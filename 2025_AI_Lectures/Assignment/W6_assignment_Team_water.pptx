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9" r:id="rId2"/>
    <p:sldId id="288" r:id="rId3"/>
    <p:sldId id="289" r:id="rId4"/>
    <p:sldId id="279" r:id="rId5"/>
    <p:sldId id="278" r:id="rId6"/>
    <p:sldId id="285" r:id="rId7"/>
    <p:sldId id="272" r:id="rId8"/>
    <p:sldId id="280" r:id="rId9"/>
    <p:sldId id="281" r:id="rId10"/>
    <p:sldId id="282" r:id="rId11"/>
    <p:sldId id="283" r:id="rId12"/>
    <p:sldId id="284" r:id="rId13"/>
    <p:sldId id="296" r:id="rId14"/>
    <p:sldId id="291" r:id="rId15"/>
    <p:sldId id="292" r:id="rId16"/>
    <p:sldId id="295" r:id="rId17"/>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밝은 스타일 2 - 강조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1E171933-4619-4E11-9A3F-F7608DF75F80}" styleName="보통 스타일 1 - 강조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09" d="100"/>
          <a:sy n="109" d="100"/>
        </p:scale>
        <p:origin x="672"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F052CC-54FE-48F0-AFE0-2F5CF6D9085A}" type="datetimeFigureOut">
              <a:rPr lang="ko-KR" altLang="en-US" smtClean="0"/>
              <a:t>2025-11-10</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62246E-E000-4FC1-B2E5-E5B4CE8766C3}" type="slidenum">
              <a:rPr lang="ko-KR" altLang="en-US" smtClean="0"/>
              <a:t>‹#›</a:t>
            </a:fld>
            <a:endParaRPr lang="ko-KR" altLang="en-US"/>
          </a:p>
        </p:txBody>
      </p:sp>
    </p:spTree>
    <p:extLst>
      <p:ext uri="{BB962C8B-B14F-4D97-AF65-F5344CB8AC3E}">
        <p14:creationId xmlns:p14="http://schemas.microsoft.com/office/powerpoint/2010/main" val="310270503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318F19C-6045-4EA4-9FA2-703F5DA7EA5B}"/>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C989857B-60E9-43C1-BE98-2BC0BD52D05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444D8EF9-17D2-428A-977F-7E4E467BE87C}"/>
              </a:ext>
            </a:extLst>
          </p:cNvPr>
          <p:cNvSpPr>
            <a:spLocks noGrp="1"/>
          </p:cNvSpPr>
          <p:nvPr>
            <p:ph type="dt" sz="half" idx="10"/>
          </p:nvPr>
        </p:nvSpPr>
        <p:spPr/>
        <p:txBody>
          <a:bodyPr/>
          <a:lstStyle/>
          <a:p>
            <a:fld id="{78826492-1859-485F-BA03-50AAFB491617}" type="datetimeFigureOut">
              <a:rPr lang="ko-KR" altLang="en-US" smtClean="0"/>
              <a:t>2025-11-10</a:t>
            </a:fld>
            <a:endParaRPr lang="ko-KR" altLang="en-US"/>
          </a:p>
        </p:txBody>
      </p:sp>
      <p:sp>
        <p:nvSpPr>
          <p:cNvPr id="5" name="바닥글 개체 틀 4">
            <a:extLst>
              <a:ext uri="{FF2B5EF4-FFF2-40B4-BE49-F238E27FC236}">
                <a16:creationId xmlns:a16="http://schemas.microsoft.com/office/drawing/2014/main" id="{8796CD90-EC26-4EB4-98AB-1B39AE141E0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85B4D60F-F8EE-447C-A287-ADD1A7C249A9}"/>
              </a:ext>
            </a:extLst>
          </p:cNvPr>
          <p:cNvSpPr>
            <a:spLocks noGrp="1"/>
          </p:cNvSpPr>
          <p:nvPr>
            <p:ph type="sldNum" sz="quarter" idx="12"/>
          </p:nvPr>
        </p:nvSpPr>
        <p:spPr/>
        <p:txBody>
          <a:bodyPr/>
          <a:lstStyle/>
          <a:p>
            <a:fld id="{F02A7F34-342E-4349-951E-30C90D87AA32}" type="slidenum">
              <a:rPr lang="ko-KR" altLang="en-US" smtClean="0"/>
              <a:t>‹#›</a:t>
            </a:fld>
            <a:endParaRPr lang="ko-KR" altLang="en-US"/>
          </a:p>
        </p:txBody>
      </p:sp>
    </p:spTree>
    <p:extLst>
      <p:ext uri="{BB962C8B-B14F-4D97-AF65-F5344CB8AC3E}">
        <p14:creationId xmlns:p14="http://schemas.microsoft.com/office/powerpoint/2010/main" val="17018875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B46DA99-1414-4DCA-9983-787DD30D0135}"/>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5ED7BD08-4E8A-4484-BCD2-8849D127B939}"/>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0589D0C-B57C-4FA7-AC84-70AF27114805}"/>
              </a:ext>
            </a:extLst>
          </p:cNvPr>
          <p:cNvSpPr>
            <a:spLocks noGrp="1"/>
          </p:cNvSpPr>
          <p:nvPr>
            <p:ph type="dt" sz="half" idx="10"/>
          </p:nvPr>
        </p:nvSpPr>
        <p:spPr/>
        <p:txBody>
          <a:bodyPr/>
          <a:lstStyle/>
          <a:p>
            <a:fld id="{78826492-1859-485F-BA03-50AAFB491617}" type="datetimeFigureOut">
              <a:rPr lang="ko-KR" altLang="en-US" smtClean="0"/>
              <a:t>2025-11-10</a:t>
            </a:fld>
            <a:endParaRPr lang="ko-KR" altLang="en-US"/>
          </a:p>
        </p:txBody>
      </p:sp>
      <p:sp>
        <p:nvSpPr>
          <p:cNvPr id="5" name="바닥글 개체 틀 4">
            <a:extLst>
              <a:ext uri="{FF2B5EF4-FFF2-40B4-BE49-F238E27FC236}">
                <a16:creationId xmlns:a16="http://schemas.microsoft.com/office/drawing/2014/main" id="{ABD4F965-485E-43EA-AC71-06985883244C}"/>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CCC1DF3A-FA96-4A07-B3DF-61562E5A3B26}"/>
              </a:ext>
            </a:extLst>
          </p:cNvPr>
          <p:cNvSpPr>
            <a:spLocks noGrp="1"/>
          </p:cNvSpPr>
          <p:nvPr>
            <p:ph type="sldNum" sz="quarter" idx="12"/>
          </p:nvPr>
        </p:nvSpPr>
        <p:spPr/>
        <p:txBody>
          <a:bodyPr/>
          <a:lstStyle/>
          <a:p>
            <a:fld id="{F02A7F34-342E-4349-951E-30C90D87AA32}" type="slidenum">
              <a:rPr lang="ko-KR" altLang="en-US" smtClean="0"/>
              <a:t>‹#›</a:t>
            </a:fld>
            <a:endParaRPr lang="ko-KR" altLang="en-US"/>
          </a:p>
        </p:txBody>
      </p:sp>
    </p:spTree>
    <p:extLst>
      <p:ext uri="{BB962C8B-B14F-4D97-AF65-F5344CB8AC3E}">
        <p14:creationId xmlns:p14="http://schemas.microsoft.com/office/powerpoint/2010/main" val="3294061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1B098D8-51CC-4B19-BFB6-C9C576FDC2E2}"/>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39224815-EA07-49D2-BA4C-A05EA993F1F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3E3448D3-E0E0-43B9-917A-95525C437708}"/>
              </a:ext>
            </a:extLst>
          </p:cNvPr>
          <p:cNvSpPr>
            <a:spLocks noGrp="1"/>
          </p:cNvSpPr>
          <p:nvPr>
            <p:ph type="dt" sz="half" idx="10"/>
          </p:nvPr>
        </p:nvSpPr>
        <p:spPr/>
        <p:txBody>
          <a:bodyPr/>
          <a:lstStyle/>
          <a:p>
            <a:fld id="{78826492-1859-485F-BA03-50AAFB491617}" type="datetimeFigureOut">
              <a:rPr lang="ko-KR" altLang="en-US" smtClean="0"/>
              <a:t>2025-11-10</a:t>
            </a:fld>
            <a:endParaRPr lang="ko-KR" altLang="en-US"/>
          </a:p>
        </p:txBody>
      </p:sp>
      <p:sp>
        <p:nvSpPr>
          <p:cNvPr id="5" name="바닥글 개체 틀 4">
            <a:extLst>
              <a:ext uri="{FF2B5EF4-FFF2-40B4-BE49-F238E27FC236}">
                <a16:creationId xmlns:a16="http://schemas.microsoft.com/office/drawing/2014/main" id="{6CB1A7B4-32AD-430C-8131-2ED6C5C6E01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3DBDB54F-2B57-4C3C-83CA-315B654ECD59}"/>
              </a:ext>
            </a:extLst>
          </p:cNvPr>
          <p:cNvSpPr>
            <a:spLocks noGrp="1"/>
          </p:cNvSpPr>
          <p:nvPr>
            <p:ph type="sldNum" sz="quarter" idx="12"/>
          </p:nvPr>
        </p:nvSpPr>
        <p:spPr/>
        <p:txBody>
          <a:bodyPr/>
          <a:lstStyle/>
          <a:p>
            <a:fld id="{F02A7F34-342E-4349-951E-30C90D87AA32}" type="slidenum">
              <a:rPr lang="ko-KR" altLang="en-US" smtClean="0"/>
              <a:t>‹#›</a:t>
            </a:fld>
            <a:endParaRPr lang="ko-KR" altLang="en-US"/>
          </a:p>
        </p:txBody>
      </p:sp>
    </p:spTree>
    <p:extLst>
      <p:ext uri="{BB962C8B-B14F-4D97-AF65-F5344CB8AC3E}">
        <p14:creationId xmlns:p14="http://schemas.microsoft.com/office/powerpoint/2010/main" val="11037151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C69EAD7-A692-4ED4-8D69-AAAB89F662B2}"/>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181FD2C2-C26A-4BA2-8253-9A666A947A2C}"/>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4BD174A5-80F8-4F01-82C5-BFED0DEC35F4}"/>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C0F9D0F7-1A19-49C7-8442-4612676B27A0}"/>
              </a:ext>
            </a:extLst>
          </p:cNvPr>
          <p:cNvSpPr>
            <a:spLocks noGrp="1"/>
          </p:cNvSpPr>
          <p:nvPr>
            <p:ph type="dt" sz="half" idx="10"/>
          </p:nvPr>
        </p:nvSpPr>
        <p:spPr/>
        <p:txBody>
          <a:bodyPr/>
          <a:lstStyle/>
          <a:p>
            <a:fld id="{78826492-1859-485F-BA03-50AAFB491617}" type="datetimeFigureOut">
              <a:rPr lang="ko-KR" altLang="en-US" smtClean="0"/>
              <a:t>2025-11-10</a:t>
            </a:fld>
            <a:endParaRPr lang="ko-KR" altLang="en-US"/>
          </a:p>
        </p:txBody>
      </p:sp>
      <p:sp>
        <p:nvSpPr>
          <p:cNvPr id="6" name="바닥글 개체 틀 5">
            <a:extLst>
              <a:ext uri="{FF2B5EF4-FFF2-40B4-BE49-F238E27FC236}">
                <a16:creationId xmlns:a16="http://schemas.microsoft.com/office/drawing/2014/main" id="{67B46E56-07AE-4F04-B309-8670CBCEDFEC}"/>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201A6F9-4F4C-4803-8985-88F4D762F7FB}"/>
              </a:ext>
            </a:extLst>
          </p:cNvPr>
          <p:cNvSpPr>
            <a:spLocks noGrp="1"/>
          </p:cNvSpPr>
          <p:nvPr>
            <p:ph type="sldNum" sz="quarter" idx="12"/>
          </p:nvPr>
        </p:nvSpPr>
        <p:spPr/>
        <p:txBody>
          <a:bodyPr/>
          <a:lstStyle/>
          <a:p>
            <a:fld id="{F02A7F34-342E-4349-951E-30C90D87AA32}" type="slidenum">
              <a:rPr lang="ko-KR" altLang="en-US" smtClean="0"/>
              <a:t>‹#›</a:t>
            </a:fld>
            <a:endParaRPr lang="ko-KR" altLang="en-US"/>
          </a:p>
        </p:txBody>
      </p:sp>
    </p:spTree>
    <p:extLst>
      <p:ext uri="{BB962C8B-B14F-4D97-AF65-F5344CB8AC3E}">
        <p14:creationId xmlns:p14="http://schemas.microsoft.com/office/powerpoint/2010/main" val="3031516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24E368C-1978-4B04-918D-B06B12FA7827}"/>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680C2E91-6DE8-4A0E-91E4-2413933C460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7D9A154E-DD03-4C25-8833-B21AB3A05B55}"/>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D3A40CCF-AB7A-4E0C-9811-4C40CB54A7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F17E6732-10F6-423C-96A3-8EEA7CDDED86}"/>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531836BE-00FC-4CB7-A0C1-719C2384AB73}"/>
              </a:ext>
            </a:extLst>
          </p:cNvPr>
          <p:cNvSpPr>
            <a:spLocks noGrp="1"/>
          </p:cNvSpPr>
          <p:nvPr>
            <p:ph type="dt" sz="half" idx="10"/>
          </p:nvPr>
        </p:nvSpPr>
        <p:spPr/>
        <p:txBody>
          <a:bodyPr/>
          <a:lstStyle/>
          <a:p>
            <a:fld id="{78826492-1859-485F-BA03-50AAFB491617}" type="datetimeFigureOut">
              <a:rPr lang="ko-KR" altLang="en-US" smtClean="0"/>
              <a:t>2025-11-10</a:t>
            </a:fld>
            <a:endParaRPr lang="ko-KR" altLang="en-US"/>
          </a:p>
        </p:txBody>
      </p:sp>
      <p:sp>
        <p:nvSpPr>
          <p:cNvPr id="8" name="바닥글 개체 틀 7">
            <a:extLst>
              <a:ext uri="{FF2B5EF4-FFF2-40B4-BE49-F238E27FC236}">
                <a16:creationId xmlns:a16="http://schemas.microsoft.com/office/drawing/2014/main" id="{F300F766-6DC8-4BA4-8AAC-457193A2CA46}"/>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8E7F1EFB-AFB4-4ED0-B24B-82162D88A962}"/>
              </a:ext>
            </a:extLst>
          </p:cNvPr>
          <p:cNvSpPr>
            <a:spLocks noGrp="1"/>
          </p:cNvSpPr>
          <p:nvPr>
            <p:ph type="sldNum" sz="quarter" idx="12"/>
          </p:nvPr>
        </p:nvSpPr>
        <p:spPr/>
        <p:txBody>
          <a:bodyPr/>
          <a:lstStyle/>
          <a:p>
            <a:fld id="{F02A7F34-342E-4349-951E-30C90D87AA32}" type="slidenum">
              <a:rPr lang="ko-KR" altLang="en-US" smtClean="0"/>
              <a:t>‹#›</a:t>
            </a:fld>
            <a:endParaRPr lang="ko-KR" altLang="en-US"/>
          </a:p>
        </p:txBody>
      </p:sp>
    </p:spTree>
    <p:extLst>
      <p:ext uri="{BB962C8B-B14F-4D97-AF65-F5344CB8AC3E}">
        <p14:creationId xmlns:p14="http://schemas.microsoft.com/office/powerpoint/2010/main" val="28173536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F7370A0-2F3C-4A81-9E17-6B5EB8F14166}"/>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38C1056D-0083-43B8-BB47-6D0535DC7A45}"/>
              </a:ext>
            </a:extLst>
          </p:cNvPr>
          <p:cNvSpPr>
            <a:spLocks noGrp="1"/>
          </p:cNvSpPr>
          <p:nvPr>
            <p:ph type="dt" sz="half" idx="10"/>
          </p:nvPr>
        </p:nvSpPr>
        <p:spPr/>
        <p:txBody>
          <a:bodyPr/>
          <a:lstStyle/>
          <a:p>
            <a:fld id="{78826492-1859-485F-BA03-50AAFB491617}" type="datetimeFigureOut">
              <a:rPr lang="ko-KR" altLang="en-US" smtClean="0"/>
              <a:t>2025-11-10</a:t>
            </a:fld>
            <a:endParaRPr lang="ko-KR" altLang="en-US"/>
          </a:p>
        </p:txBody>
      </p:sp>
      <p:sp>
        <p:nvSpPr>
          <p:cNvPr id="4" name="바닥글 개체 틀 3">
            <a:extLst>
              <a:ext uri="{FF2B5EF4-FFF2-40B4-BE49-F238E27FC236}">
                <a16:creationId xmlns:a16="http://schemas.microsoft.com/office/drawing/2014/main" id="{450A80F3-30F5-409A-880C-FC65192ABCC1}"/>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12F8DAF9-1E36-4B48-A5FD-3B58540B0F6D}"/>
              </a:ext>
            </a:extLst>
          </p:cNvPr>
          <p:cNvSpPr>
            <a:spLocks noGrp="1"/>
          </p:cNvSpPr>
          <p:nvPr>
            <p:ph type="sldNum" sz="quarter" idx="12"/>
          </p:nvPr>
        </p:nvSpPr>
        <p:spPr/>
        <p:txBody>
          <a:bodyPr/>
          <a:lstStyle/>
          <a:p>
            <a:fld id="{F02A7F34-342E-4349-951E-30C90D87AA32}" type="slidenum">
              <a:rPr lang="ko-KR" altLang="en-US" smtClean="0"/>
              <a:t>‹#›</a:t>
            </a:fld>
            <a:endParaRPr lang="ko-KR" altLang="en-US"/>
          </a:p>
        </p:txBody>
      </p:sp>
    </p:spTree>
    <p:extLst>
      <p:ext uri="{BB962C8B-B14F-4D97-AF65-F5344CB8AC3E}">
        <p14:creationId xmlns:p14="http://schemas.microsoft.com/office/powerpoint/2010/main" val="2493662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DB055077-8599-44C0-9AB5-FE7756B875EA}"/>
              </a:ext>
            </a:extLst>
          </p:cNvPr>
          <p:cNvSpPr>
            <a:spLocks noGrp="1"/>
          </p:cNvSpPr>
          <p:nvPr>
            <p:ph type="dt" sz="half" idx="10"/>
          </p:nvPr>
        </p:nvSpPr>
        <p:spPr/>
        <p:txBody>
          <a:bodyPr/>
          <a:lstStyle/>
          <a:p>
            <a:fld id="{78826492-1859-485F-BA03-50AAFB491617}" type="datetimeFigureOut">
              <a:rPr lang="ko-KR" altLang="en-US" smtClean="0"/>
              <a:t>2025-11-10</a:t>
            </a:fld>
            <a:endParaRPr lang="ko-KR" altLang="en-US"/>
          </a:p>
        </p:txBody>
      </p:sp>
      <p:sp>
        <p:nvSpPr>
          <p:cNvPr id="3" name="바닥글 개체 틀 2">
            <a:extLst>
              <a:ext uri="{FF2B5EF4-FFF2-40B4-BE49-F238E27FC236}">
                <a16:creationId xmlns:a16="http://schemas.microsoft.com/office/drawing/2014/main" id="{0D5E12BF-B2F2-4198-B52F-CCA0DCB05C55}"/>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9C7ACCA2-E587-4190-A630-55556FAFE3F6}"/>
              </a:ext>
            </a:extLst>
          </p:cNvPr>
          <p:cNvSpPr>
            <a:spLocks noGrp="1"/>
          </p:cNvSpPr>
          <p:nvPr>
            <p:ph type="sldNum" sz="quarter" idx="12"/>
          </p:nvPr>
        </p:nvSpPr>
        <p:spPr/>
        <p:txBody>
          <a:bodyPr/>
          <a:lstStyle/>
          <a:p>
            <a:fld id="{F02A7F34-342E-4349-951E-30C90D87AA32}" type="slidenum">
              <a:rPr lang="ko-KR" altLang="en-US" smtClean="0"/>
              <a:t>‹#›</a:t>
            </a:fld>
            <a:endParaRPr lang="ko-KR" altLang="en-US"/>
          </a:p>
        </p:txBody>
      </p:sp>
    </p:spTree>
    <p:extLst>
      <p:ext uri="{BB962C8B-B14F-4D97-AF65-F5344CB8AC3E}">
        <p14:creationId xmlns:p14="http://schemas.microsoft.com/office/powerpoint/2010/main" val="8934210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E6C77AC-55E7-4707-BAAE-A256DF138859}"/>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E0B795DD-2E82-4735-A109-A69B10DABE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44CA8C89-2D1F-4B24-9B42-CDF3726784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378D7073-524F-4719-8DEE-4F4B29346DF4}"/>
              </a:ext>
            </a:extLst>
          </p:cNvPr>
          <p:cNvSpPr>
            <a:spLocks noGrp="1"/>
          </p:cNvSpPr>
          <p:nvPr>
            <p:ph type="dt" sz="half" idx="10"/>
          </p:nvPr>
        </p:nvSpPr>
        <p:spPr/>
        <p:txBody>
          <a:bodyPr/>
          <a:lstStyle/>
          <a:p>
            <a:fld id="{78826492-1859-485F-BA03-50AAFB491617}" type="datetimeFigureOut">
              <a:rPr lang="ko-KR" altLang="en-US" smtClean="0"/>
              <a:t>2025-11-10</a:t>
            </a:fld>
            <a:endParaRPr lang="ko-KR" altLang="en-US"/>
          </a:p>
        </p:txBody>
      </p:sp>
      <p:sp>
        <p:nvSpPr>
          <p:cNvPr id="6" name="바닥글 개체 틀 5">
            <a:extLst>
              <a:ext uri="{FF2B5EF4-FFF2-40B4-BE49-F238E27FC236}">
                <a16:creationId xmlns:a16="http://schemas.microsoft.com/office/drawing/2014/main" id="{E0287C56-62BC-4371-9C0C-6C291C54D846}"/>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EDEEA536-EFC9-4F84-9A78-6B5B48254247}"/>
              </a:ext>
            </a:extLst>
          </p:cNvPr>
          <p:cNvSpPr>
            <a:spLocks noGrp="1"/>
          </p:cNvSpPr>
          <p:nvPr>
            <p:ph type="sldNum" sz="quarter" idx="12"/>
          </p:nvPr>
        </p:nvSpPr>
        <p:spPr/>
        <p:txBody>
          <a:bodyPr/>
          <a:lstStyle/>
          <a:p>
            <a:fld id="{F02A7F34-342E-4349-951E-30C90D87AA32}" type="slidenum">
              <a:rPr lang="ko-KR" altLang="en-US" smtClean="0"/>
              <a:t>‹#›</a:t>
            </a:fld>
            <a:endParaRPr lang="ko-KR" altLang="en-US"/>
          </a:p>
        </p:txBody>
      </p:sp>
    </p:spTree>
    <p:extLst>
      <p:ext uri="{BB962C8B-B14F-4D97-AF65-F5344CB8AC3E}">
        <p14:creationId xmlns:p14="http://schemas.microsoft.com/office/powerpoint/2010/main" val="9357488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AD90EF6-A831-4A42-8130-FCDE7C95A9EA}"/>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B8A40D0C-4CF4-42F1-9D6F-0D658B0269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DE0C057C-2038-4141-B3B5-8E2CF8932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DFF92020-ACC0-4677-AD71-7E410F76E6C6}"/>
              </a:ext>
            </a:extLst>
          </p:cNvPr>
          <p:cNvSpPr>
            <a:spLocks noGrp="1"/>
          </p:cNvSpPr>
          <p:nvPr>
            <p:ph type="dt" sz="half" idx="10"/>
          </p:nvPr>
        </p:nvSpPr>
        <p:spPr/>
        <p:txBody>
          <a:bodyPr/>
          <a:lstStyle/>
          <a:p>
            <a:fld id="{78826492-1859-485F-BA03-50AAFB491617}" type="datetimeFigureOut">
              <a:rPr lang="ko-KR" altLang="en-US" smtClean="0"/>
              <a:t>2025-11-10</a:t>
            </a:fld>
            <a:endParaRPr lang="ko-KR" altLang="en-US"/>
          </a:p>
        </p:txBody>
      </p:sp>
      <p:sp>
        <p:nvSpPr>
          <p:cNvPr id="6" name="바닥글 개체 틀 5">
            <a:extLst>
              <a:ext uri="{FF2B5EF4-FFF2-40B4-BE49-F238E27FC236}">
                <a16:creationId xmlns:a16="http://schemas.microsoft.com/office/drawing/2014/main" id="{E6639963-EF8E-457A-978C-C7E95958E720}"/>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CE2B17C1-5EAC-473B-B448-9A7D117EAF85}"/>
              </a:ext>
            </a:extLst>
          </p:cNvPr>
          <p:cNvSpPr>
            <a:spLocks noGrp="1"/>
          </p:cNvSpPr>
          <p:nvPr>
            <p:ph type="sldNum" sz="quarter" idx="12"/>
          </p:nvPr>
        </p:nvSpPr>
        <p:spPr/>
        <p:txBody>
          <a:bodyPr/>
          <a:lstStyle/>
          <a:p>
            <a:fld id="{F02A7F34-342E-4349-951E-30C90D87AA32}" type="slidenum">
              <a:rPr lang="ko-KR" altLang="en-US" smtClean="0"/>
              <a:t>‹#›</a:t>
            </a:fld>
            <a:endParaRPr lang="ko-KR" altLang="en-US"/>
          </a:p>
        </p:txBody>
      </p:sp>
    </p:spTree>
    <p:extLst>
      <p:ext uri="{BB962C8B-B14F-4D97-AF65-F5344CB8AC3E}">
        <p14:creationId xmlns:p14="http://schemas.microsoft.com/office/powerpoint/2010/main" val="1211238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053B642-9A58-4810-9274-7C65878433A4}"/>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FDFAA730-D252-4993-8DC3-2F2776CD5B4F}"/>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EB9597B3-29B6-4360-8615-9A81F46F166D}"/>
              </a:ext>
            </a:extLst>
          </p:cNvPr>
          <p:cNvSpPr>
            <a:spLocks noGrp="1"/>
          </p:cNvSpPr>
          <p:nvPr>
            <p:ph type="dt" sz="half" idx="10"/>
          </p:nvPr>
        </p:nvSpPr>
        <p:spPr/>
        <p:txBody>
          <a:bodyPr/>
          <a:lstStyle/>
          <a:p>
            <a:fld id="{78826492-1859-485F-BA03-50AAFB491617}" type="datetimeFigureOut">
              <a:rPr lang="ko-KR" altLang="en-US" smtClean="0"/>
              <a:t>2025-11-10</a:t>
            </a:fld>
            <a:endParaRPr lang="ko-KR" altLang="en-US"/>
          </a:p>
        </p:txBody>
      </p:sp>
      <p:sp>
        <p:nvSpPr>
          <p:cNvPr id="5" name="바닥글 개체 틀 4">
            <a:extLst>
              <a:ext uri="{FF2B5EF4-FFF2-40B4-BE49-F238E27FC236}">
                <a16:creationId xmlns:a16="http://schemas.microsoft.com/office/drawing/2014/main" id="{FB8074DE-2965-4A6A-A27A-16DF0530CDE8}"/>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39C0C76-90C0-470C-A708-54A2E17FD96A}"/>
              </a:ext>
            </a:extLst>
          </p:cNvPr>
          <p:cNvSpPr>
            <a:spLocks noGrp="1"/>
          </p:cNvSpPr>
          <p:nvPr>
            <p:ph type="sldNum" sz="quarter" idx="12"/>
          </p:nvPr>
        </p:nvSpPr>
        <p:spPr/>
        <p:txBody>
          <a:bodyPr/>
          <a:lstStyle/>
          <a:p>
            <a:fld id="{F02A7F34-342E-4349-951E-30C90D87AA32}" type="slidenum">
              <a:rPr lang="ko-KR" altLang="en-US" smtClean="0"/>
              <a:t>‹#›</a:t>
            </a:fld>
            <a:endParaRPr lang="ko-KR" altLang="en-US"/>
          </a:p>
        </p:txBody>
      </p:sp>
    </p:spTree>
    <p:extLst>
      <p:ext uri="{BB962C8B-B14F-4D97-AF65-F5344CB8AC3E}">
        <p14:creationId xmlns:p14="http://schemas.microsoft.com/office/powerpoint/2010/main" val="42563432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531CC53D-6ACC-42F9-B700-14F9D7EA0DFE}"/>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37F17244-3DEC-49CF-9BC3-CF44463C5B4D}"/>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BCE1C4F6-122E-4913-8EFC-54A6E6C0D961}"/>
              </a:ext>
            </a:extLst>
          </p:cNvPr>
          <p:cNvSpPr>
            <a:spLocks noGrp="1"/>
          </p:cNvSpPr>
          <p:nvPr>
            <p:ph type="dt" sz="half" idx="10"/>
          </p:nvPr>
        </p:nvSpPr>
        <p:spPr/>
        <p:txBody>
          <a:bodyPr/>
          <a:lstStyle/>
          <a:p>
            <a:fld id="{78826492-1859-485F-BA03-50AAFB491617}" type="datetimeFigureOut">
              <a:rPr lang="ko-KR" altLang="en-US" smtClean="0"/>
              <a:t>2025-11-10</a:t>
            </a:fld>
            <a:endParaRPr lang="ko-KR" altLang="en-US"/>
          </a:p>
        </p:txBody>
      </p:sp>
      <p:sp>
        <p:nvSpPr>
          <p:cNvPr id="5" name="바닥글 개체 틀 4">
            <a:extLst>
              <a:ext uri="{FF2B5EF4-FFF2-40B4-BE49-F238E27FC236}">
                <a16:creationId xmlns:a16="http://schemas.microsoft.com/office/drawing/2014/main" id="{E2E9A8CB-3AC1-4332-9A46-D52CA75D2F8A}"/>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109E4C73-02D9-4A4A-9273-6E4E5BAE0661}"/>
              </a:ext>
            </a:extLst>
          </p:cNvPr>
          <p:cNvSpPr>
            <a:spLocks noGrp="1"/>
          </p:cNvSpPr>
          <p:nvPr>
            <p:ph type="sldNum" sz="quarter" idx="12"/>
          </p:nvPr>
        </p:nvSpPr>
        <p:spPr/>
        <p:txBody>
          <a:bodyPr/>
          <a:lstStyle/>
          <a:p>
            <a:fld id="{F02A7F34-342E-4349-951E-30C90D87AA32}" type="slidenum">
              <a:rPr lang="ko-KR" altLang="en-US" smtClean="0"/>
              <a:t>‹#›</a:t>
            </a:fld>
            <a:endParaRPr lang="ko-KR" altLang="en-US"/>
          </a:p>
        </p:txBody>
      </p:sp>
    </p:spTree>
    <p:extLst>
      <p:ext uri="{BB962C8B-B14F-4D97-AF65-F5344CB8AC3E}">
        <p14:creationId xmlns:p14="http://schemas.microsoft.com/office/powerpoint/2010/main" val="16227696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12323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2A58209B-A0DD-4942-9820-D3D146025A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9E37FC10-E4A1-4590-9EAE-6AE7D89856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1EB8CD5-67BE-471F-91F4-006F07F9F8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826492-1859-485F-BA03-50AAFB491617}" type="datetimeFigureOut">
              <a:rPr lang="ko-KR" altLang="en-US" smtClean="0"/>
              <a:t>2025-11-10</a:t>
            </a:fld>
            <a:endParaRPr lang="ko-KR" altLang="en-US"/>
          </a:p>
        </p:txBody>
      </p:sp>
      <p:sp>
        <p:nvSpPr>
          <p:cNvPr id="5" name="바닥글 개체 틀 4">
            <a:extLst>
              <a:ext uri="{FF2B5EF4-FFF2-40B4-BE49-F238E27FC236}">
                <a16:creationId xmlns:a16="http://schemas.microsoft.com/office/drawing/2014/main" id="{B3A654EF-5D89-40CB-9F0E-D5F2B0707F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4A845E7E-F0D6-460A-B22A-0092E4CD3B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2A7F34-342E-4349-951E-30C90D87AA32}" type="slidenum">
              <a:rPr lang="ko-KR" altLang="en-US" smtClean="0"/>
              <a:t>‹#›</a:t>
            </a:fld>
            <a:endParaRPr lang="ko-KR" altLang="en-US"/>
          </a:p>
        </p:txBody>
      </p:sp>
    </p:spTree>
    <p:extLst>
      <p:ext uri="{BB962C8B-B14F-4D97-AF65-F5344CB8AC3E}">
        <p14:creationId xmlns:p14="http://schemas.microsoft.com/office/powerpoint/2010/main" val="39214451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제목 1">
            <a:extLst>
              <a:ext uri="{FF2B5EF4-FFF2-40B4-BE49-F238E27FC236}">
                <a16:creationId xmlns:a16="http://schemas.microsoft.com/office/drawing/2014/main" id="{FD1CDA5B-234F-4DF7-B7C9-D77431492427}"/>
              </a:ext>
            </a:extLst>
          </p:cNvPr>
          <p:cNvSpPr txBox="1">
            <a:spLocks/>
          </p:cNvSpPr>
          <p:nvPr/>
        </p:nvSpPr>
        <p:spPr>
          <a:xfrm>
            <a:off x="1594338" y="841880"/>
            <a:ext cx="9144000" cy="2387600"/>
          </a:xfrm>
          <a:prstGeom prst="rect">
            <a:avLst/>
          </a:prstGeom>
        </p:spPr>
        <p:txBody>
          <a:bodyPr vert="horz" lIns="91440" tIns="45720" rIns="91440" bIns="45720" rtlCol="0" anchor="b">
            <a:normAutofit fontScale="85000" lnSpcReduction="20000"/>
          </a:bodyPr>
          <a:lstStyle>
            <a:lvl1pPr algn="ctr" defTabSz="914400" rtl="0" eaLnBrk="1" latinLnBrk="1"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kumimoji="0" lang="en-US" altLang="ko-KR" sz="6000" b="1" i="0" u="none" strike="noStrike" kern="1200" cap="none" spc="0" normalizeH="0" baseline="0" noProof="0">
                <a:ln>
                  <a:noFill/>
                </a:ln>
                <a:solidFill>
                  <a:srgbClr val="FFC000"/>
                </a:solidFill>
                <a:effectLst/>
                <a:uLnTx/>
                <a:uFillTx/>
                <a:latin typeface="맑은 고딕" panose="02110004020202020204"/>
                <a:ea typeface="맑은 고딕" panose="020B0503020000020004" pitchFamily="50" charset="-127"/>
                <a:cs typeface="+mj-cs"/>
              </a:rPr>
              <a:t>Week 6 </a:t>
            </a:r>
            <a:r>
              <a:rPr kumimoji="0" lang="en-US" altLang="ko-KR" sz="6000" b="1" i="0" u="none" strike="noStrike" kern="1200" cap="none" spc="0" normalizeH="0" baseline="0" noProof="0" dirty="0">
                <a:ln>
                  <a:noFill/>
                </a:ln>
                <a:solidFill>
                  <a:srgbClr val="FFC000"/>
                </a:solidFill>
                <a:effectLst/>
                <a:uLnTx/>
                <a:uFillTx/>
                <a:latin typeface="맑은 고딕" panose="02110004020202020204"/>
                <a:ea typeface="맑은 고딕" panose="020B0503020000020004" pitchFamily="50" charset="-127"/>
                <a:cs typeface="+mj-cs"/>
              </a:rPr>
              <a:t>assignment </a:t>
            </a:r>
            <a:br>
              <a:rPr kumimoji="0" lang="en-US" altLang="ko-KR" sz="6000" b="1" i="0" u="none" strike="noStrike" kern="1200" cap="none" spc="0" normalizeH="0" baseline="0" noProof="0">
                <a:ln>
                  <a:noFill/>
                </a:ln>
                <a:solidFill>
                  <a:srgbClr val="0E2841">
                    <a:lumMod val="50000"/>
                    <a:lumOff val="50000"/>
                  </a:srgbClr>
                </a:solidFill>
                <a:effectLst/>
                <a:uLnTx/>
                <a:uFillTx/>
                <a:latin typeface="맑은 고딕" panose="02110004020202020204"/>
                <a:ea typeface="맑은 고딕" panose="020B0503020000020004" pitchFamily="50" charset="-127"/>
                <a:cs typeface="+mj-cs"/>
              </a:rPr>
            </a:br>
            <a:r>
              <a:rPr lang="en-US" altLang="ko-KR" sz="4000" b="1" i="0">
                <a:solidFill>
                  <a:srgbClr val="1F2328"/>
                </a:solidFill>
                <a:effectLst/>
                <a:latin typeface="+mj-ea"/>
                <a:ea typeface="맑은 고딕" panose="020B0503020000020004" pitchFamily="50" charset="-127"/>
              </a:rPr>
              <a:t>Incremenral LoRA Training </a:t>
            </a:r>
          </a:p>
          <a:p>
            <a:pPr>
              <a:lnSpc>
                <a:spcPct val="150000"/>
              </a:lnSpc>
            </a:pPr>
            <a:r>
              <a:rPr lang="en-US" altLang="ko-KR" sz="4000" b="1" i="0">
                <a:solidFill>
                  <a:srgbClr val="1F2328"/>
                </a:solidFill>
                <a:effectLst/>
                <a:latin typeface="+mj-ea"/>
                <a:ea typeface="맑은 고딕" panose="020B0503020000020004" pitchFamily="50" charset="-127"/>
              </a:rPr>
              <a:t>with Replay Sets</a:t>
            </a:r>
            <a:endParaRPr lang="en-US" altLang="ko-KR" sz="1200" b="1" i="0" dirty="0">
              <a:solidFill>
                <a:srgbClr val="1F2328"/>
              </a:solidFill>
              <a:effectLst/>
              <a:latin typeface="+mj-ea"/>
            </a:endParaRPr>
          </a:p>
        </p:txBody>
      </p:sp>
      <p:sp>
        <p:nvSpPr>
          <p:cNvPr id="49" name="부제목 2">
            <a:extLst>
              <a:ext uri="{FF2B5EF4-FFF2-40B4-BE49-F238E27FC236}">
                <a16:creationId xmlns:a16="http://schemas.microsoft.com/office/drawing/2014/main" id="{15108AEB-EF87-4422-A4D4-6C41C9F6AAD1}"/>
              </a:ext>
            </a:extLst>
          </p:cNvPr>
          <p:cNvSpPr txBox="1">
            <a:spLocks/>
          </p:cNvSpPr>
          <p:nvPr/>
        </p:nvSpPr>
        <p:spPr>
          <a:xfrm>
            <a:off x="1594338" y="3580173"/>
            <a:ext cx="9144000" cy="1655762"/>
          </a:xfrm>
          <a:prstGeom prst="rect">
            <a:avLst/>
          </a:prstGeom>
        </p:spPr>
        <p:txBody>
          <a:bodyPr vert="horz" lIns="91440" tIns="45720" rIns="91440" bIns="45720" rtlCol="0">
            <a:normAutofit/>
          </a:bodyPr>
          <a:lstStyle>
            <a:lvl1pPr marL="0" indent="0" algn="ctr" defTabSz="914400" rtl="0" eaLnBrk="1" latinLnBrk="1"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1"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1"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1"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914400" rtl="0" eaLnBrk="1" fontAlgn="auto" latinLnBrk="1" hangingPunct="1">
              <a:lnSpc>
                <a:spcPct val="90000"/>
              </a:lnSpc>
              <a:spcBef>
                <a:spcPts val="1000"/>
              </a:spcBef>
              <a:spcAft>
                <a:spcPts val="0"/>
              </a:spcAft>
              <a:buClrTx/>
              <a:buSzTx/>
              <a:buFont typeface="Arial" panose="020B0604020202020204" pitchFamily="34" charset="0"/>
              <a:buNone/>
              <a:tabLst/>
              <a:defRPr/>
            </a:pPr>
            <a:r>
              <a:rPr kumimoji="0" lang="en-US" altLang="ko-KR" sz="2400" b="1" i="0" u="none" strike="noStrike" kern="1200" cap="none" spc="0" normalizeH="0" baseline="0" noProof="0">
                <a:ln>
                  <a:noFill/>
                </a:ln>
                <a:solidFill>
                  <a:srgbClr val="0E2841">
                    <a:lumMod val="75000"/>
                    <a:lumOff val="25000"/>
                  </a:srgbClr>
                </a:solidFill>
                <a:effectLst/>
                <a:uLnTx/>
                <a:uFillTx/>
                <a:latin typeface="맑은 고딕" panose="02110004020202020204"/>
                <a:ea typeface="맑은 고딕" panose="020B0503020000020004" pitchFamily="50" charset="-127"/>
                <a:cs typeface="+mn-cs"/>
              </a:rPr>
              <a:t>Team Water</a:t>
            </a:r>
            <a:endParaRPr kumimoji="0" lang="ko-KR" altLang="en-US" sz="2400" b="1" i="0" u="none" strike="noStrike" kern="1200" cap="none" spc="0" normalizeH="0" baseline="0" noProof="0" dirty="0">
              <a:ln>
                <a:noFill/>
              </a:ln>
              <a:solidFill>
                <a:srgbClr val="0E2841">
                  <a:lumMod val="75000"/>
                  <a:lumOff val="25000"/>
                </a:srgbClr>
              </a:solidFill>
              <a:effectLst/>
              <a:uLnTx/>
              <a:uFillTx/>
              <a:latin typeface="맑은 고딕" panose="02110004020202020204"/>
              <a:ea typeface="맑은 고딕" panose="020B0503020000020004" pitchFamily="50" charset="-127"/>
              <a:cs typeface="+mn-cs"/>
            </a:endParaRPr>
          </a:p>
        </p:txBody>
      </p:sp>
      <p:pic>
        <p:nvPicPr>
          <p:cNvPr id="50" name="그림 49">
            <a:extLst>
              <a:ext uri="{FF2B5EF4-FFF2-40B4-BE49-F238E27FC236}">
                <a16:creationId xmlns:a16="http://schemas.microsoft.com/office/drawing/2014/main" id="{7748D694-7602-422E-B299-97066BF0A07E}"/>
              </a:ext>
            </a:extLst>
          </p:cNvPr>
          <p:cNvPicPr>
            <a:picLocks noChangeAspect="1"/>
          </p:cNvPicPr>
          <p:nvPr/>
        </p:nvPicPr>
        <p:blipFill>
          <a:blip r:embed="rId3"/>
          <a:stretch>
            <a:fillRect/>
          </a:stretch>
        </p:blipFill>
        <p:spPr>
          <a:xfrm>
            <a:off x="5335465" y="4207768"/>
            <a:ext cx="1714499" cy="171449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직사각형 26">
            <a:extLst>
              <a:ext uri="{FF2B5EF4-FFF2-40B4-BE49-F238E27FC236}">
                <a16:creationId xmlns:a16="http://schemas.microsoft.com/office/drawing/2014/main" id="{E4491432-D6D6-4196-83C5-6D4CF819A9BB}"/>
              </a:ext>
            </a:extLst>
          </p:cNvPr>
          <p:cNvSpPr/>
          <p:nvPr/>
        </p:nvSpPr>
        <p:spPr>
          <a:xfrm>
            <a:off x="332198" y="235925"/>
            <a:ext cx="5763802" cy="54453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 name="TextBox 1">
            <a:extLst>
              <a:ext uri="{FF2B5EF4-FFF2-40B4-BE49-F238E27FC236}">
                <a16:creationId xmlns:a16="http://schemas.microsoft.com/office/drawing/2014/main" id="{3121AF4D-428A-456C-981A-05CB35A633C5}"/>
              </a:ext>
            </a:extLst>
          </p:cNvPr>
          <p:cNvSpPr txBox="1"/>
          <p:nvPr/>
        </p:nvSpPr>
        <p:spPr>
          <a:xfrm>
            <a:off x="332197" y="246580"/>
            <a:ext cx="5833213" cy="523220"/>
          </a:xfrm>
          <a:prstGeom prst="rect">
            <a:avLst/>
          </a:prstGeom>
          <a:noFill/>
        </p:spPr>
        <p:txBody>
          <a:bodyPr wrap="square" rtlCol="0">
            <a:spAutoFit/>
          </a:bodyPr>
          <a:lstStyle/>
          <a:p>
            <a:r>
              <a:rPr lang="en-US" altLang="ko-KR" sz="2800" b="1"/>
              <a:t>Part A: Practical Implementation</a:t>
            </a:r>
            <a:endParaRPr lang="en-US" altLang="ko-KR" sz="2800" b="1">
              <a:effectLst/>
            </a:endParaRPr>
          </a:p>
        </p:txBody>
      </p:sp>
      <p:sp>
        <p:nvSpPr>
          <p:cNvPr id="3" name="TextBox 2">
            <a:extLst>
              <a:ext uri="{FF2B5EF4-FFF2-40B4-BE49-F238E27FC236}">
                <a16:creationId xmlns:a16="http://schemas.microsoft.com/office/drawing/2014/main" id="{DB312615-0C7C-4F38-9DB7-CC2DF13C0800}"/>
              </a:ext>
            </a:extLst>
          </p:cNvPr>
          <p:cNvSpPr txBox="1"/>
          <p:nvPr/>
        </p:nvSpPr>
        <p:spPr>
          <a:xfrm>
            <a:off x="536331" y="914400"/>
            <a:ext cx="5134708" cy="369332"/>
          </a:xfrm>
          <a:prstGeom prst="rect">
            <a:avLst/>
          </a:prstGeom>
          <a:noFill/>
        </p:spPr>
        <p:txBody>
          <a:bodyPr wrap="square" rtlCol="0">
            <a:spAutoFit/>
          </a:bodyPr>
          <a:lstStyle/>
          <a:p>
            <a:pPr marL="285750" indent="-285750">
              <a:buFont typeface="Arial" panose="020B0604020202020204" pitchFamily="34" charset="0"/>
              <a:buChar char="•"/>
            </a:pPr>
            <a:r>
              <a:rPr lang="ko-KR" altLang="en-US"/>
              <a:t>데이터셋 준비 </a:t>
            </a:r>
            <a:r>
              <a:rPr lang="en-US" altLang="ko-KR"/>
              <a:t>(Dataset Preparation)</a:t>
            </a:r>
            <a:endParaRPr lang="ko-KR" altLang="en-US"/>
          </a:p>
        </p:txBody>
      </p:sp>
      <p:sp>
        <p:nvSpPr>
          <p:cNvPr id="18" name="Rectangle 2">
            <a:extLst>
              <a:ext uri="{FF2B5EF4-FFF2-40B4-BE49-F238E27FC236}">
                <a16:creationId xmlns:a16="http://schemas.microsoft.com/office/drawing/2014/main" id="{6F4AF90A-1C2D-46DA-A6CF-4A244415EE17}"/>
              </a:ext>
            </a:extLst>
          </p:cNvPr>
          <p:cNvSpPr>
            <a:spLocks noChangeArrowheads="1"/>
          </p:cNvSpPr>
          <p:nvPr/>
        </p:nvSpPr>
        <p:spPr bwMode="auto">
          <a:xfrm>
            <a:off x="536331" y="3821308"/>
            <a:ext cx="10938680"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a:ln>
                  <a:noFill/>
                </a:ln>
                <a:solidFill>
                  <a:schemeClr val="tx1"/>
                </a:solidFill>
                <a:effectLst/>
                <a:latin typeface="+mn-ea"/>
              </a:rPr>
              <a:t>To prepare the data for incremental fine-tuning, a Python script was used to automate the following process:</a:t>
            </a:r>
            <a:endParaRPr kumimoji="0" lang="en-US" altLang="ko-KR" sz="1600" b="0" i="0" u="none" strike="noStrike" cap="none" normalizeH="0" baseline="0">
              <a:ln>
                <a:noFill/>
              </a:ln>
              <a:solidFill>
                <a:schemeClr val="tx1"/>
              </a:solidFill>
              <a:effectLst/>
              <a:latin typeface="+mn-ea"/>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ko-KR" altLang="ko-KR" sz="1600" b="0" i="0" u="none" strike="noStrike" cap="none" normalizeH="0" baseline="0">
              <a:ln>
                <a:noFill/>
              </a:ln>
              <a:solidFill>
                <a:schemeClr val="tx1"/>
              </a:solidFill>
              <a:effectLst/>
              <a:latin typeface="+mn-ea"/>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ko-KR" sz="1600" b="1" i="0" u="none" strike="noStrike" cap="none" normalizeH="0" baseline="0">
                <a:ln>
                  <a:noFill/>
                </a:ln>
                <a:solidFill>
                  <a:schemeClr val="tx1"/>
                </a:solidFill>
                <a:effectLst/>
                <a:latin typeface="+mn-ea"/>
              </a:rPr>
              <a:t> </a:t>
            </a:r>
            <a:r>
              <a:rPr kumimoji="0" lang="ko-KR" altLang="ko-KR" sz="1600" b="1" i="0" u="none" strike="noStrike" cap="none" normalizeH="0" baseline="0">
                <a:ln>
                  <a:noFill/>
                </a:ln>
                <a:solidFill>
                  <a:schemeClr val="tx1"/>
                </a:solidFill>
                <a:effectLst/>
                <a:latin typeface="+mn-ea"/>
              </a:rPr>
              <a:t>Load &amp; Sample (Replay Set):</a:t>
            </a:r>
            <a:r>
              <a:rPr kumimoji="0" lang="ko-KR" altLang="ko-KR" sz="1600" b="0" i="0" u="none" strike="noStrike" cap="none" normalizeH="0" baseline="0">
                <a:ln>
                  <a:noFill/>
                </a:ln>
                <a:solidFill>
                  <a:schemeClr val="tx1"/>
                </a:solidFill>
                <a:effectLst/>
                <a:latin typeface="+mn-ea"/>
              </a:rPr>
              <a:t> First, the script loaded the complete Week 5 dataset. From this, it randomly sampled </a:t>
            </a:r>
            <a:r>
              <a:rPr kumimoji="0" lang="ko-KR" altLang="ko-KR" sz="1600" b="1" i="0" u="none" strike="noStrike" cap="none" normalizeH="0" baseline="0">
                <a:ln>
                  <a:noFill/>
                </a:ln>
                <a:solidFill>
                  <a:schemeClr val="accent6">
                    <a:lumMod val="75000"/>
                  </a:schemeClr>
                </a:solidFill>
                <a:effectLst/>
                <a:latin typeface="+mn-ea"/>
              </a:rPr>
              <a:t>20% of the data</a:t>
            </a:r>
            <a:r>
              <a:rPr kumimoji="0" lang="ko-KR" altLang="ko-KR" sz="1600" b="0" i="0" u="none" strike="noStrike" cap="none" normalizeH="0" baseline="0">
                <a:ln>
                  <a:noFill/>
                </a:ln>
                <a:solidFill>
                  <a:schemeClr val="tx1"/>
                </a:solidFill>
                <a:effectLst/>
                <a:latin typeface="+mn-ea"/>
              </a:rPr>
              <a:t> to serve as the </a:t>
            </a:r>
            <a:r>
              <a:rPr kumimoji="0" lang="ko-KR" altLang="ko-KR" sz="1600" b="1" i="0" u="none" strike="noStrike" cap="none" normalizeH="0" baseline="0">
                <a:ln>
                  <a:noFill/>
                </a:ln>
                <a:solidFill>
                  <a:schemeClr val="tx1"/>
                </a:solidFill>
                <a:effectLst/>
                <a:latin typeface="+mn-ea"/>
              </a:rPr>
              <a:t>"replay set."</a:t>
            </a:r>
            <a:endParaRPr kumimoji="0" lang="ko-KR" altLang="ko-KR" sz="1600" b="0" i="0" u="none" strike="noStrike" cap="none" normalizeH="0" baseline="0">
              <a:ln>
                <a:noFill/>
              </a:ln>
              <a:solidFill>
                <a:schemeClr val="tx1"/>
              </a:solidFill>
              <a:effectLst/>
              <a:latin typeface="+mn-ea"/>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ko-KR" sz="1600" b="1" i="0" u="none" strike="noStrike" cap="none" normalizeH="0" baseline="0">
                <a:ln>
                  <a:noFill/>
                </a:ln>
                <a:solidFill>
                  <a:schemeClr val="tx1"/>
                </a:solidFill>
                <a:effectLst/>
                <a:latin typeface="+mn-ea"/>
              </a:rPr>
              <a:t> </a:t>
            </a:r>
            <a:r>
              <a:rPr kumimoji="0" lang="ko-KR" altLang="ko-KR" sz="1600" b="1" i="0" u="none" strike="noStrike" cap="none" normalizeH="0" baseline="0">
                <a:ln>
                  <a:noFill/>
                </a:ln>
                <a:solidFill>
                  <a:schemeClr val="tx1"/>
                </a:solidFill>
                <a:effectLst/>
                <a:latin typeface="+mn-ea"/>
              </a:rPr>
              <a:t>Load New Data:</a:t>
            </a:r>
            <a:r>
              <a:rPr kumimoji="0" lang="ko-KR" altLang="ko-KR" sz="1600" b="0" i="0" u="none" strike="noStrike" cap="none" normalizeH="0" baseline="0">
                <a:ln>
                  <a:noFill/>
                </a:ln>
                <a:solidFill>
                  <a:schemeClr val="tx1"/>
                </a:solidFill>
                <a:effectLst/>
                <a:latin typeface="+mn-ea"/>
              </a:rPr>
              <a:t> Separately, 5-10+ new Q&amp;A pairs were collected and placed in a dedicated folder. The script automatically collected and parsed these new .json files.</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ko-KR" sz="1600" b="1" i="0" u="none" strike="noStrike" cap="none" normalizeH="0" baseline="0">
                <a:ln>
                  <a:noFill/>
                </a:ln>
                <a:solidFill>
                  <a:schemeClr val="tx1"/>
                </a:solidFill>
                <a:effectLst/>
                <a:latin typeface="+mn-ea"/>
              </a:rPr>
              <a:t> </a:t>
            </a:r>
            <a:r>
              <a:rPr kumimoji="0" lang="ko-KR" altLang="ko-KR" sz="1600" b="1" i="0" u="none" strike="noStrike" cap="none" normalizeH="0" baseline="0">
                <a:ln>
                  <a:noFill/>
                </a:ln>
                <a:solidFill>
                  <a:schemeClr val="tx1"/>
                </a:solidFill>
                <a:effectLst/>
                <a:latin typeface="+mn-ea"/>
              </a:rPr>
              <a:t>Validate &amp; Merge:</a:t>
            </a:r>
            <a:r>
              <a:rPr kumimoji="0" lang="ko-KR" altLang="ko-KR" sz="1600" b="0" i="0" u="none" strike="noStrike" cap="none" normalizeH="0" baseline="0">
                <a:ln>
                  <a:noFill/>
                </a:ln>
                <a:solidFill>
                  <a:schemeClr val="tx1"/>
                </a:solidFill>
                <a:effectLst/>
                <a:latin typeface="+mn-ea"/>
              </a:rPr>
              <a:t> Both the new data and the replay set were automatically validated to ensure all samples contained the required keys (system, instruction, context, answer).</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ko-KR" sz="1600" b="1" i="0" u="none" strike="noStrike" cap="none" normalizeH="0" baseline="0">
                <a:ln>
                  <a:noFill/>
                </a:ln>
                <a:solidFill>
                  <a:schemeClr val="tx1"/>
                </a:solidFill>
                <a:effectLst/>
                <a:latin typeface="+mn-ea"/>
              </a:rPr>
              <a:t> </a:t>
            </a:r>
            <a:r>
              <a:rPr kumimoji="0" lang="ko-KR" altLang="ko-KR" sz="1600" b="1" i="0" u="none" strike="noStrike" cap="none" normalizeH="0" baseline="0">
                <a:ln>
                  <a:noFill/>
                </a:ln>
                <a:solidFill>
                  <a:schemeClr val="tx1"/>
                </a:solidFill>
                <a:effectLst/>
                <a:latin typeface="+mn-ea"/>
              </a:rPr>
              <a:t>Shuffle &amp; Save:</a:t>
            </a:r>
            <a:r>
              <a:rPr kumimoji="0" lang="ko-KR" altLang="ko-KR" sz="1600" b="0" i="0" u="none" strike="noStrike" cap="none" normalizeH="0" baseline="0">
                <a:ln>
                  <a:noFill/>
                </a:ln>
                <a:solidFill>
                  <a:schemeClr val="tx1"/>
                </a:solidFill>
                <a:effectLst/>
                <a:latin typeface="+mn-ea"/>
              </a:rPr>
              <a:t> The two datasets were merged, and the final combined list was randomly shuffled to ensure data distribution during training. This final dataset was saved as </a:t>
            </a:r>
            <a:r>
              <a:rPr kumimoji="0" lang="ko-KR" altLang="ko-KR" sz="1600" b="1" i="0" u="none" strike="noStrike" cap="none" normalizeH="0" baseline="0">
                <a:ln>
                  <a:noFill/>
                </a:ln>
                <a:solidFill>
                  <a:schemeClr val="tx1"/>
                </a:solidFill>
                <a:effectLst/>
                <a:latin typeface="+mn-ea"/>
              </a:rPr>
              <a:t>incremental_replay_final.jsonl</a:t>
            </a:r>
            <a:r>
              <a:rPr kumimoji="0" lang="ko-KR" altLang="ko-KR" sz="1600" b="0" i="0" u="none" strike="noStrike" cap="none" normalizeH="0" baseline="0">
                <a:ln>
                  <a:noFill/>
                </a:ln>
                <a:solidFill>
                  <a:schemeClr val="tx1"/>
                </a:solidFill>
                <a:effectLst/>
                <a:latin typeface="+mn-ea"/>
              </a:rPr>
              <a:t>, which was used as the input for the incremental LoRA fine-tuning.</a:t>
            </a:r>
          </a:p>
        </p:txBody>
      </p:sp>
      <p:pic>
        <p:nvPicPr>
          <p:cNvPr id="21" name="그림 20">
            <a:extLst>
              <a:ext uri="{FF2B5EF4-FFF2-40B4-BE49-F238E27FC236}">
                <a16:creationId xmlns:a16="http://schemas.microsoft.com/office/drawing/2014/main" id="{2B13FA1C-32B8-4199-9FFC-476694BEAF71}"/>
              </a:ext>
            </a:extLst>
          </p:cNvPr>
          <p:cNvPicPr>
            <a:picLocks noChangeAspect="1"/>
          </p:cNvPicPr>
          <p:nvPr/>
        </p:nvPicPr>
        <p:blipFill rotWithShape="1">
          <a:blip r:embed="rId2"/>
          <a:srcRect r="26025"/>
          <a:stretch/>
        </p:blipFill>
        <p:spPr>
          <a:xfrm>
            <a:off x="934776" y="1428332"/>
            <a:ext cx="5647094" cy="2235156"/>
          </a:xfrm>
          <a:prstGeom prst="rect">
            <a:avLst/>
          </a:prstGeom>
          <a:effectLst>
            <a:outerShdw blurRad="50800" dist="38100" dir="5400000" algn="t" rotWithShape="0">
              <a:prstClr val="black">
                <a:alpha val="40000"/>
              </a:prstClr>
            </a:outerShdw>
          </a:effectLst>
        </p:spPr>
      </p:pic>
      <p:sp>
        <p:nvSpPr>
          <p:cNvPr id="22" name="직사각형 21">
            <a:extLst>
              <a:ext uri="{FF2B5EF4-FFF2-40B4-BE49-F238E27FC236}">
                <a16:creationId xmlns:a16="http://schemas.microsoft.com/office/drawing/2014/main" id="{895C7F98-0437-4DC7-8F77-D2604CD7C717}"/>
              </a:ext>
            </a:extLst>
          </p:cNvPr>
          <p:cNvSpPr/>
          <p:nvPr/>
        </p:nvSpPr>
        <p:spPr>
          <a:xfrm>
            <a:off x="4843604" y="2408222"/>
            <a:ext cx="1466661" cy="4074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t>New</a:t>
            </a:r>
            <a:r>
              <a:rPr lang="ko-KR" altLang="en-US"/>
              <a:t> </a:t>
            </a:r>
            <a:r>
              <a:rPr lang="en-US" altLang="ko-KR"/>
              <a:t>I-A</a:t>
            </a:r>
            <a:r>
              <a:rPr lang="ko-KR" altLang="en-US"/>
              <a:t> </a:t>
            </a:r>
            <a:r>
              <a:rPr lang="en-US" altLang="ko-KR"/>
              <a:t>set</a:t>
            </a:r>
            <a:endParaRPr lang="ko-KR" altLang="en-US"/>
          </a:p>
        </p:txBody>
      </p:sp>
      <p:pic>
        <p:nvPicPr>
          <p:cNvPr id="24" name="그림 23">
            <a:extLst>
              <a:ext uri="{FF2B5EF4-FFF2-40B4-BE49-F238E27FC236}">
                <a16:creationId xmlns:a16="http://schemas.microsoft.com/office/drawing/2014/main" id="{DCF88221-B57C-4F22-BB8B-D3839505FCB0}"/>
              </a:ext>
            </a:extLst>
          </p:cNvPr>
          <p:cNvPicPr>
            <a:picLocks noChangeAspect="1"/>
          </p:cNvPicPr>
          <p:nvPr/>
        </p:nvPicPr>
        <p:blipFill>
          <a:blip r:embed="rId3"/>
          <a:stretch>
            <a:fillRect/>
          </a:stretch>
        </p:blipFill>
        <p:spPr>
          <a:xfrm>
            <a:off x="6976808" y="246580"/>
            <a:ext cx="4678861" cy="3429000"/>
          </a:xfrm>
          <a:prstGeom prst="rect">
            <a:avLst/>
          </a:prstGeom>
        </p:spPr>
      </p:pic>
      <p:sp>
        <p:nvSpPr>
          <p:cNvPr id="26" name="직사각형 25">
            <a:extLst>
              <a:ext uri="{FF2B5EF4-FFF2-40B4-BE49-F238E27FC236}">
                <a16:creationId xmlns:a16="http://schemas.microsoft.com/office/drawing/2014/main" id="{0FCA282B-EE98-42F8-A21F-0A9E5D0DF2DE}"/>
              </a:ext>
            </a:extLst>
          </p:cNvPr>
          <p:cNvSpPr/>
          <p:nvPr/>
        </p:nvSpPr>
        <p:spPr>
          <a:xfrm>
            <a:off x="9612923" y="2408222"/>
            <a:ext cx="1862088" cy="4074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a:t>Prepare_data.py</a:t>
            </a:r>
            <a:endParaRPr lang="ko-KR" altLang="en-US"/>
          </a:p>
        </p:txBody>
      </p:sp>
    </p:spTree>
    <p:extLst>
      <p:ext uri="{BB962C8B-B14F-4D97-AF65-F5344CB8AC3E}">
        <p14:creationId xmlns:p14="http://schemas.microsoft.com/office/powerpoint/2010/main" val="7896671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직사각형 26">
            <a:extLst>
              <a:ext uri="{FF2B5EF4-FFF2-40B4-BE49-F238E27FC236}">
                <a16:creationId xmlns:a16="http://schemas.microsoft.com/office/drawing/2014/main" id="{E4491432-D6D6-4196-83C5-6D4CF819A9BB}"/>
              </a:ext>
            </a:extLst>
          </p:cNvPr>
          <p:cNvSpPr/>
          <p:nvPr/>
        </p:nvSpPr>
        <p:spPr>
          <a:xfrm>
            <a:off x="332198" y="235925"/>
            <a:ext cx="5763802" cy="54453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 name="TextBox 1">
            <a:extLst>
              <a:ext uri="{FF2B5EF4-FFF2-40B4-BE49-F238E27FC236}">
                <a16:creationId xmlns:a16="http://schemas.microsoft.com/office/drawing/2014/main" id="{3121AF4D-428A-456C-981A-05CB35A633C5}"/>
              </a:ext>
            </a:extLst>
          </p:cNvPr>
          <p:cNvSpPr txBox="1"/>
          <p:nvPr/>
        </p:nvSpPr>
        <p:spPr>
          <a:xfrm>
            <a:off x="332197" y="246580"/>
            <a:ext cx="5833213" cy="523220"/>
          </a:xfrm>
          <a:prstGeom prst="rect">
            <a:avLst/>
          </a:prstGeom>
          <a:noFill/>
        </p:spPr>
        <p:txBody>
          <a:bodyPr wrap="square" rtlCol="0">
            <a:spAutoFit/>
          </a:bodyPr>
          <a:lstStyle/>
          <a:p>
            <a:r>
              <a:rPr lang="en-US" altLang="ko-KR" sz="2800" b="1"/>
              <a:t>Part A: Practical Implementation</a:t>
            </a:r>
            <a:endParaRPr lang="en-US" altLang="ko-KR" sz="2800" b="1">
              <a:effectLst/>
            </a:endParaRPr>
          </a:p>
        </p:txBody>
      </p:sp>
      <p:sp>
        <p:nvSpPr>
          <p:cNvPr id="3" name="TextBox 2">
            <a:extLst>
              <a:ext uri="{FF2B5EF4-FFF2-40B4-BE49-F238E27FC236}">
                <a16:creationId xmlns:a16="http://schemas.microsoft.com/office/drawing/2014/main" id="{DB312615-0C7C-4F38-9DB7-CC2DF13C0800}"/>
              </a:ext>
            </a:extLst>
          </p:cNvPr>
          <p:cNvSpPr txBox="1"/>
          <p:nvPr/>
        </p:nvSpPr>
        <p:spPr>
          <a:xfrm>
            <a:off x="332196" y="1167431"/>
            <a:ext cx="5664157" cy="369332"/>
          </a:xfrm>
          <a:prstGeom prst="rect">
            <a:avLst/>
          </a:prstGeom>
          <a:noFill/>
        </p:spPr>
        <p:txBody>
          <a:bodyPr wrap="square" rtlCol="0">
            <a:spAutoFit/>
          </a:bodyPr>
          <a:lstStyle/>
          <a:p>
            <a:pPr marL="285750" indent="-285750">
              <a:buFont typeface="Arial" panose="020B0604020202020204" pitchFamily="34" charset="0"/>
              <a:buChar char="•"/>
            </a:pPr>
            <a:r>
              <a:rPr lang="en-US" altLang="ko-KR"/>
              <a:t>Incremental Fine-Tuning python terminal output</a:t>
            </a:r>
            <a:endParaRPr lang="ko-KR" altLang="en-US"/>
          </a:p>
        </p:txBody>
      </p:sp>
      <p:pic>
        <p:nvPicPr>
          <p:cNvPr id="12" name="그림 11">
            <a:extLst>
              <a:ext uri="{FF2B5EF4-FFF2-40B4-BE49-F238E27FC236}">
                <a16:creationId xmlns:a16="http://schemas.microsoft.com/office/drawing/2014/main" id="{95E6E208-49AE-403B-AA7D-8DCAA2BBCF6E}"/>
              </a:ext>
            </a:extLst>
          </p:cNvPr>
          <p:cNvPicPr>
            <a:picLocks noChangeAspect="1"/>
          </p:cNvPicPr>
          <p:nvPr/>
        </p:nvPicPr>
        <p:blipFill rotWithShape="1">
          <a:blip r:embed="rId2"/>
          <a:srcRect t="-1" r="82487" b="64898"/>
          <a:stretch/>
        </p:blipFill>
        <p:spPr>
          <a:xfrm>
            <a:off x="655602" y="1686690"/>
            <a:ext cx="4318136" cy="1811121"/>
          </a:xfrm>
          <a:prstGeom prst="rect">
            <a:avLst/>
          </a:prstGeom>
          <a:effectLst>
            <a:outerShdw blurRad="50800" dist="38100" dir="2700000" algn="tl" rotWithShape="0">
              <a:prstClr val="black">
                <a:alpha val="40000"/>
              </a:prstClr>
            </a:outerShdw>
          </a:effectLst>
        </p:spPr>
      </p:pic>
      <p:pic>
        <p:nvPicPr>
          <p:cNvPr id="5" name="그림 4">
            <a:extLst>
              <a:ext uri="{FF2B5EF4-FFF2-40B4-BE49-F238E27FC236}">
                <a16:creationId xmlns:a16="http://schemas.microsoft.com/office/drawing/2014/main" id="{E61B10E0-0F01-4AD9-B495-A7B6CDB9C0E1}"/>
              </a:ext>
            </a:extLst>
          </p:cNvPr>
          <p:cNvPicPr>
            <a:picLocks noChangeAspect="1"/>
          </p:cNvPicPr>
          <p:nvPr/>
        </p:nvPicPr>
        <p:blipFill rotWithShape="1">
          <a:blip r:embed="rId3"/>
          <a:srcRect r="17192"/>
          <a:stretch/>
        </p:blipFill>
        <p:spPr>
          <a:xfrm>
            <a:off x="655602" y="4401933"/>
            <a:ext cx="4811303" cy="1838566"/>
          </a:xfrm>
          <a:prstGeom prst="rect">
            <a:avLst/>
          </a:prstGeom>
          <a:effectLst>
            <a:outerShdw blurRad="50800" dist="38100" dir="2700000" algn="tl" rotWithShape="0">
              <a:prstClr val="black">
                <a:alpha val="40000"/>
              </a:prstClr>
            </a:outerShdw>
          </a:effectLst>
        </p:spPr>
      </p:pic>
      <p:graphicFrame>
        <p:nvGraphicFramePr>
          <p:cNvPr id="15" name="표 2">
            <a:extLst>
              <a:ext uri="{FF2B5EF4-FFF2-40B4-BE49-F238E27FC236}">
                <a16:creationId xmlns:a16="http://schemas.microsoft.com/office/drawing/2014/main" id="{DF452578-2BDA-4DFD-9357-681844826DEF}"/>
              </a:ext>
            </a:extLst>
          </p:cNvPr>
          <p:cNvGraphicFramePr>
            <a:graphicFrameLocks noGrp="1"/>
          </p:cNvGraphicFramePr>
          <p:nvPr>
            <p:extLst>
              <p:ext uri="{D42A27DB-BD31-4B8C-83A1-F6EECF244321}">
                <p14:modId xmlns:p14="http://schemas.microsoft.com/office/powerpoint/2010/main" val="463832991"/>
              </p:ext>
            </p:extLst>
          </p:nvPr>
        </p:nvGraphicFramePr>
        <p:xfrm>
          <a:off x="6197648" y="2184970"/>
          <a:ext cx="5681740" cy="3352800"/>
        </p:xfrm>
        <a:graphic>
          <a:graphicData uri="http://schemas.openxmlformats.org/drawingml/2006/table">
            <a:tbl>
              <a:tblPr firstRow="1" bandRow="1">
                <a:tableStyleId>{1E171933-4619-4E11-9A3F-F7608DF75F80}</a:tableStyleId>
              </a:tblPr>
              <a:tblGrid>
                <a:gridCol w="2270938">
                  <a:extLst>
                    <a:ext uri="{9D8B030D-6E8A-4147-A177-3AD203B41FA5}">
                      <a16:colId xmlns:a16="http://schemas.microsoft.com/office/drawing/2014/main" val="824538878"/>
                    </a:ext>
                  </a:extLst>
                </a:gridCol>
                <a:gridCol w="504551">
                  <a:extLst>
                    <a:ext uri="{9D8B030D-6E8A-4147-A177-3AD203B41FA5}">
                      <a16:colId xmlns:a16="http://schemas.microsoft.com/office/drawing/2014/main" val="44730984"/>
                    </a:ext>
                  </a:extLst>
                </a:gridCol>
                <a:gridCol w="2906251">
                  <a:extLst>
                    <a:ext uri="{9D8B030D-6E8A-4147-A177-3AD203B41FA5}">
                      <a16:colId xmlns:a16="http://schemas.microsoft.com/office/drawing/2014/main" val="3999765678"/>
                    </a:ext>
                  </a:extLst>
                </a:gridCol>
              </a:tblGrid>
              <a:tr h="218331">
                <a:tc>
                  <a:txBody>
                    <a:bodyPr/>
                    <a:lstStyle/>
                    <a:p>
                      <a:pPr algn="l"/>
                      <a:r>
                        <a:rPr lang="ko-KR" altLang="en-US" sz="1200" b="1">
                          <a:effectLst/>
                          <a:latin typeface="+mn-ea"/>
                          <a:ea typeface="+mn-ea"/>
                        </a:rPr>
                        <a:t>변수명</a:t>
                      </a:r>
                    </a:p>
                  </a:txBody>
                  <a:tcPr marL="76200" marR="76200" marT="76200" marB="76200" anchor="ctr"/>
                </a:tc>
                <a:tc>
                  <a:txBody>
                    <a:bodyPr/>
                    <a:lstStyle/>
                    <a:p>
                      <a:pPr algn="l"/>
                      <a:r>
                        <a:rPr lang="ko-KR" altLang="en-US" sz="1200" b="1">
                          <a:effectLst/>
                          <a:latin typeface="+mn-ea"/>
                          <a:ea typeface="+mn-ea"/>
                        </a:rPr>
                        <a:t>값</a:t>
                      </a:r>
                    </a:p>
                  </a:txBody>
                  <a:tcPr marL="76200" marR="76200" marT="76200" marB="76200" anchor="ctr"/>
                </a:tc>
                <a:tc>
                  <a:txBody>
                    <a:bodyPr/>
                    <a:lstStyle/>
                    <a:p>
                      <a:pPr algn="l"/>
                      <a:r>
                        <a:rPr lang="ko-KR" altLang="en-US" sz="1200" b="1">
                          <a:effectLst/>
                          <a:latin typeface="+mn-ea"/>
                          <a:ea typeface="+mn-ea"/>
                        </a:rPr>
                        <a:t>설명</a:t>
                      </a:r>
                    </a:p>
                  </a:txBody>
                  <a:tcPr marL="76200" marR="76200" marT="76200" marB="76200" anchor="ctr"/>
                </a:tc>
                <a:extLst>
                  <a:ext uri="{0D108BD9-81ED-4DB2-BD59-A6C34878D82A}">
                    <a16:rowId xmlns:a16="http://schemas.microsoft.com/office/drawing/2014/main" val="27040044"/>
                  </a:ext>
                </a:extLst>
              </a:tr>
              <a:tr h="285472">
                <a:tc>
                  <a:txBody>
                    <a:bodyPr/>
                    <a:lstStyle/>
                    <a:p>
                      <a:pPr algn="l"/>
                      <a:r>
                        <a:rPr lang="en-US" sz="1200">
                          <a:effectLst/>
                          <a:latin typeface="+mn-ea"/>
                          <a:ea typeface="+mn-ea"/>
                        </a:rPr>
                        <a:t>learning_rate</a:t>
                      </a:r>
                    </a:p>
                  </a:txBody>
                  <a:tcPr marL="76200" marR="76200" marT="76200" marB="76200" anchor="ctr">
                    <a:lnR w="12700" cap="flat" cmpd="sng" algn="ctr">
                      <a:solidFill>
                        <a:schemeClr val="accent4"/>
                      </a:solidFill>
                      <a:prstDash val="solid"/>
                      <a:round/>
                      <a:headEnd type="none" w="med" len="med"/>
                      <a:tailEnd type="none" w="med" len="med"/>
                    </a:lnR>
                  </a:tcPr>
                </a:tc>
                <a:tc>
                  <a:txBody>
                    <a:bodyPr/>
                    <a:lstStyle/>
                    <a:p>
                      <a:pPr algn="l"/>
                      <a:r>
                        <a:rPr lang="en-US" sz="1200">
                          <a:effectLst/>
                          <a:latin typeface="+mn-ea"/>
                          <a:ea typeface="+mn-ea"/>
                        </a:rPr>
                        <a:t>1e-4</a:t>
                      </a:r>
                    </a:p>
                  </a:txBody>
                  <a:tcPr marL="76200" marR="76200" marT="76200" marB="7620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tcPr>
                </a:tc>
                <a:tc>
                  <a:txBody>
                    <a:bodyPr/>
                    <a:lstStyle/>
                    <a:p>
                      <a:pPr algn="l"/>
                      <a:r>
                        <a:rPr lang="ko-KR" altLang="en-US" sz="1200">
                          <a:effectLst/>
                          <a:latin typeface="+mn-ea"/>
                          <a:ea typeface="+mn-ea"/>
                        </a:rPr>
                        <a:t>학습률 </a:t>
                      </a:r>
                      <a:r>
                        <a:rPr lang="en-US" altLang="ko-KR" sz="1200">
                          <a:effectLst/>
                          <a:latin typeface="+mn-ea"/>
                          <a:ea typeface="+mn-ea"/>
                        </a:rPr>
                        <a:t>(</a:t>
                      </a:r>
                      <a:r>
                        <a:rPr lang="en-US" sz="1200">
                          <a:effectLst/>
                          <a:latin typeface="+mn-ea"/>
                          <a:ea typeface="+mn-ea"/>
                        </a:rPr>
                        <a:t>TrainingArguments</a:t>
                      </a:r>
                      <a:r>
                        <a:rPr lang="ko-KR" altLang="en-US" sz="1200">
                          <a:effectLst/>
                          <a:latin typeface="+mn-ea"/>
                          <a:ea typeface="+mn-ea"/>
                        </a:rPr>
                        <a:t>의 </a:t>
                      </a:r>
                      <a:r>
                        <a:rPr lang="en-US" sz="1200">
                          <a:effectLst/>
                          <a:latin typeface="+mn-ea"/>
                          <a:ea typeface="+mn-ea"/>
                        </a:rPr>
                        <a:t>LR)</a:t>
                      </a:r>
                    </a:p>
                  </a:txBody>
                  <a:tcPr marL="76200" marR="76200" marT="76200" marB="76200" anchor="ctr">
                    <a:lnL w="12700" cap="flat" cmpd="sng" algn="ctr">
                      <a:solidFill>
                        <a:schemeClr val="accent4"/>
                      </a:solidFill>
                      <a:prstDash val="solid"/>
                      <a:round/>
                      <a:headEnd type="none" w="med" len="med"/>
                      <a:tailEnd type="none" w="med" len="med"/>
                    </a:lnL>
                  </a:tcPr>
                </a:tc>
                <a:extLst>
                  <a:ext uri="{0D108BD9-81ED-4DB2-BD59-A6C34878D82A}">
                    <a16:rowId xmlns:a16="http://schemas.microsoft.com/office/drawing/2014/main" val="2359611388"/>
                  </a:ext>
                </a:extLst>
              </a:tr>
              <a:tr h="218331">
                <a:tc>
                  <a:txBody>
                    <a:bodyPr/>
                    <a:lstStyle/>
                    <a:p>
                      <a:pPr algn="l"/>
                      <a:r>
                        <a:rPr lang="en-US" sz="1200">
                          <a:effectLst/>
                          <a:latin typeface="+mn-ea"/>
                          <a:ea typeface="+mn-ea"/>
                        </a:rPr>
                        <a:t>num_train_epochs</a:t>
                      </a:r>
                    </a:p>
                  </a:txBody>
                  <a:tcPr marL="76200" marR="76200" marT="76200" marB="76200" anchor="ctr">
                    <a:lnR w="12700" cap="flat" cmpd="sng" algn="ctr">
                      <a:solidFill>
                        <a:schemeClr val="accent4"/>
                      </a:solidFill>
                      <a:prstDash val="solid"/>
                      <a:round/>
                      <a:headEnd type="none" w="med" len="med"/>
                      <a:tailEnd type="none" w="med" len="med"/>
                    </a:lnR>
                  </a:tcPr>
                </a:tc>
                <a:tc>
                  <a:txBody>
                    <a:bodyPr/>
                    <a:lstStyle/>
                    <a:p>
                      <a:pPr algn="l"/>
                      <a:r>
                        <a:rPr lang="en-US" altLang="ko-KR" sz="1200">
                          <a:effectLst/>
                          <a:latin typeface="+mn-ea"/>
                          <a:ea typeface="+mn-ea"/>
                        </a:rPr>
                        <a:t>1</a:t>
                      </a:r>
                    </a:p>
                  </a:txBody>
                  <a:tcPr marL="76200" marR="76200" marT="76200" marB="7620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tcPr>
                </a:tc>
                <a:tc>
                  <a:txBody>
                    <a:bodyPr/>
                    <a:lstStyle/>
                    <a:p>
                      <a:pPr algn="l"/>
                      <a:r>
                        <a:rPr lang="ko-KR" altLang="en-US" sz="1200">
                          <a:effectLst/>
                          <a:latin typeface="+mn-ea"/>
                          <a:ea typeface="+mn-ea"/>
                        </a:rPr>
                        <a:t>총 에포크 수</a:t>
                      </a:r>
                    </a:p>
                  </a:txBody>
                  <a:tcPr marL="76200" marR="76200" marT="76200" marB="76200" anchor="ctr">
                    <a:lnL w="12700" cap="flat" cmpd="sng" algn="ctr">
                      <a:solidFill>
                        <a:schemeClr val="accent4"/>
                      </a:solidFill>
                      <a:prstDash val="solid"/>
                      <a:round/>
                      <a:headEnd type="none" w="med" len="med"/>
                      <a:tailEnd type="none" w="med" len="med"/>
                    </a:lnL>
                  </a:tcPr>
                </a:tc>
                <a:extLst>
                  <a:ext uri="{0D108BD9-81ED-4DB2-BD59-A6C34878D82A}">
                    <a16:rowId xmlns:a16="http://schemas.microsoft.com/office/drawing/2014/main" val="3957572815"/>
                  </a:ext>
                </a:extLst>
              </a:tr>
              <a:tr h="285472">
                <a:tc>
                  <a:txBody>
                    <a:bodyPr/>
                    <a:lstStyle/>
                    <a:p>
                      <a:pPr algn="l"/>
                      <a:r>
                        <a:rPr lang="en-US" sz="1200">
                          <a:effectLst/>
                          <a:latin typeface="+mn-ea"/>
                          <a:ea typeface="+mn-ea"/>
                        </a:rPr>
                        <a:t>lora_r</a:t>
                      </a:r>
                    </a:p>
                  </a:txBody>
                  <a:tcPr marL="76200" marR="76200" marT="76200" marB="76200" anchor="ctr">
                    <a:lnR w="12700" cap="flat" cmpd="sng" algn="ctr">
                      <a:solidFill>
                        <a:schemeClr val="accent4"/>
                      </a:solidFill>
                      <a:prstDash val="solid"/>
                      <a:round/>
                      <a:headEnd type="none" w="med" len="med"/>
                      <a:tailEnd type="none" w="med" len="med"/>
                    </a:lnR>
                  </a:tcPr>
                </a:tc>
                <a:tc>
                  <a:txBody>
                    <a:bodyPr/>
                    <a:lstStyle/>
                    <a:p>
                      <a:pPr algn="l"/>
                      <a:r>
                        <a:rPr lang="en-US" altLang="ko-KR" sz="1200">
                          <a:effectLst/>
                          <a:latin typeface="+mn-ea"/>
                          <a:ea typeface="+mn-ea"/>
                        </a:rPr>
                        <a:t>16</a:t>
                      </a:r>
                    </a:p>
                  </a:txBody>
                  <a:tcPr marL="76200" marR="76200" marT="76200" marB="7620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tcPr>
                </a:tc>
                <a:tc>
                  <a:txBody>
                    <a:bodyPr/>
                    <a:lstStyle/>
                    <a:p>
                      <a:pPr algn="l"/>
                      <a:r>
                        <a:rPr lang="en-US" sz="1200">
                          <a:effectLst/>
                          <a:latin typeface="+mn-ea"/>
                          <a:ea typeface="+mn-ea"/>
                        </a:rPr>
                        <a:t>LoRA </a:t>
                      </a:r>
                      <a:r>
                        <a:rPr lang="ko-KR" altLang="en-US" sz="1200">
                          <a:effectLst/>
                          <a:latin typeface="+mn-ea"/>
                          <a:ea typeface="+mn-ea"/>
                        </a:rPr>
                        <a:t>랭크</a:t>
                      </a:r>
                      <a:r>
                        <a:rPr lang="en-US" altLang="ko-KR" sz="1200">
                          <a:effectLst/>
                          <a:latin typeface="+mn-ea"/>
                          <a:ea typeface="+mn-ea"/>
                        </a:rPr>
                        <a:t>(</a:t>
                      </a:r>
                      <a:r>
                        <a:rPr lang="ko-KR" altLang="en-US" sz="1200">
                          <a:effectLst/>
                          <a:latin typeface="+mn-ea"/>
                          <a:ea typeface="+mn-ea"/>
                        </a:rPr>
                        <a:t>저계수 차원수</a:t>
                      </a:r>
                      <a:r>
                        <a:rPr lang="en-US" altLang="ko-KR" sz="1200">
                          <a:effectLst/>
                          <a:latin typeface="+mn-ea"/>
                          <a:ea typeface="+mn-ea"/>
                        </a:rPr>
                        <a:t>, </a:t>
                      </a:r>
                      <a:r>
                        <a:rPr lang="en-US" sz="1200">
                          <a:effectLst/>
                          <a:latin typeface="+mn-ea"/>
                          <a:ea typeface="+mn-ea"/>
                        </a:rPr>
                        <a:t>LoraConfig r)</a:t>
                      </a:r>
                    </a:p>
                  </a:txBody>
                  <a:tcPr marL="76200" marR="76200" marT="76200" marB="76200" anchor="ctr">
                    <a:lnL w="12700" cap="flat" cmpd="sng" algn="ctr">
                      <a:solidFill>
                        <a:schemeClr val="accent4"/>
                      </a:solidFill>
                      <a:prstDash val="solid"/>
                      <a:round/>
                      <a:headEnd type="none" w="med" len="med"/>
                      <a:tailEnd type="none" w="med" len="med"/>
                    </a:lnL>
                  </a:tcPr>
                </a:tc>
                <a:extLst>
                  <a:ext uri="{0D108BD9-81ED-4DB2-BD59-A6C34878D82A}">
                    <a16:rowId xmlns:a16="http://schemas.microsoft.com/office/drawing/2014/main" val="1675101475"/>
                  </a:ext>
                </a:extLst>
              </a:tr>
              <a:tr h="285472">
                <a:tc>
                  <a:txBody>
                    <a:bodyPr/>
                    <a:lstStyle/>
                    <a:p>
                      <a:pPr algn="l"/>
                      <a:r>
                        <a:rPr lang="en-US" sz="1200">
                          <a:effectLst/>
                          <a:latin typeface="+mn-ea"/>
                          <a:ea typeface="+mn-ea"/>
                        </a:rPr>
                        <a:t>lora_alpha</a:t>
                      </a:r>
                    </a:p>
                  </a:txBody>
                  <a:tcPr marL="76200" marR="76200" marT="76200" marB="76200" anchor="ctr">
                    <a:lnR w="12700" cap="flat" cmpd="sng" algn="ctr">
                      <a:solidFill>
                        <a:schemeClr val="accent4"/>
                      </a:solidFill>
                      <a:prstDash val="solid"/>
                      <a:round/>
                      <a:headEnd type="none" w="med" len="med"/>
                      <a:tailEnd type="none" w="med" len="med"/>
                    </a:lnR>
                  </a:tcPr>
                </a:tc>
                <a:tc>
                  <a:txBody>
                    <a:bodyPr/>
                    <a:lstStyle/>
                    <a:p>
                      <a:pPr algn="l"/>
                      <a:r>
                        <a:rPr lang="en-US" altLang="ko-KR" sz="1200">
                          <a:effectLst/>
                          <a:latin typeface="+mn-ea"/>
                          <a:ea typeface="+mn-ea"/>
                        </a:rPr>
                        <a:t>32</a:t>
                      </a:r>
                    </a:p>
                  </a:txBody>
                  <a:tcPr marL="76200" marR="76200" marT="76200" marB="7620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tcPr>
                </a:tc>
                <a:tc>
                  <a:txBody>
                    <a:bodyPr/>
                    <a:lstStyle/>
                    <a:p>
                      <a:pPr algn="l"/>
                      <a:r>
                        <a:rPr lang="en-US" altLang="ko-KR" sz="1200">
                          <a:effectLst/>
                          <a:latin typeface="+mn-ea"/>
                          <a:ea typeface="+mn-ea"/>
                        </a:rPr>
                        <a:t>LoRA </a:t>
                      </a:r>
                      <a:r>
                        <a:rPr lang="ko-KR" altLang="en-US" sz="1200">
                          <a:effectLst/>
                          <a:latin typeface="+mn-ea"/>
                          <a:ea typeface="+mn-ea"/>
                        </a:rPr>
                        <a:t>학습률 스케일</a:t>
                      </a:r>
                      <a:r>
                        <a:rPr lang="en-US" altLang="ko-KR" sz="1200">
                          <a:effectLst/>
                          <a:latin typeface="+mn-ea"/>
                          <a:ea typeface="+mn-ea"/>
                        </a:rPr>
                        <a:t>(Alpha)</a:t>
                      </a:r>
                    </a:p>
                  </a:txBody>
                  <a:tcPr marL="76200" marR="76200" marT="76200" marB="76200" anchor="ctr">
                    <a:lnL w="12700" cap="flat" cmpd="sng" algn="ctr">
                      <a:solidFill>
                        <a:schemeClr val="accent4"/>
                      </a:solidFill>
                      <a:prstDash val="solid"/>
                      <a:round/>
                      <a:headEnd type="none" w="med" len="med"/>
                      <a:tailEnd type="none" w="med" len="med"/>
                    </a:lnL>
                  </a:tcPr>
                </a:tc>
                <a:extLst>
                  <a:ext uri="{0D108BD9-81ED-4DB2-BD59-A6C34878D82A}">
                    <a16:rowId xmlns:a16="http://schemas.microsoft.com/office/drawing/2014/main" val="2774440933"/>
                  </a:ext>
                </a:extLst>
              </a:tr>
              <a:tr h="218331">
                <a:tc>
                  <a:txBody>
                    <a:bodyPr/>
                    <a:lstStyle/>
                    <a:p>
                      <a:pPr algn="l"/>
                      <a:r>
                        <a:rPr lang="en-US" sz="1200">
                          <a:effectLst/>
                          <a:latin typeface="+mn-ea"/>
                          <a:ea typeface="+mn-ea"/>
                        </a:rPr>
                        <a:t>lora_dropout</a:t>
                      </a:r>
                    </a:p>
                  </a:txBody>
                  <a:tcPr marL="76200" marR="76200" marT="76200" marB="76200" anchor="ctr">
                    <a:lnR w="12700" cap="flat" cmpd="sng" algn="ctr">
                      <a:solidFill>
                        <a:schemeClr val="accent4"/>
                      </a:solidFill>
                      <a:prstDash val="solid"/>
                      <a:round/>
                      <a:headEnd type="none" w="med" len="med"/>
                      <a:tailEnd type="none" w="med" len="med"/>
                    </a:lnR>
                  </a:tcPr>
                </a:tc>
                <a:tc>
                  <a:txBody>
                    <a:bodyPr/>
                    <a:lstStyle/>
                    <a:p>
                      <a:pPr algn="l"/>
                      <a:r>
                        <a:rPr lang="en-US" altLang="ko-KR" sz="1200">
                          <a:effectLst/>
                          <a:latin typeface="+mn-ea"/>
                          <a:ea typeface="+mn-ea"/>
                        </a:rPr>
                        <a:t>0.05</a:t>
                      </a:r>
                    </a:p>
                  </a:txBody>
                  <a:tcPr marL="76200" marR="76200" marT="76200" marB="7620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tcPr>
                </a:tc>
                <a:tc>
                  <a:txBody>
                    <a:bodyPr/>
                    <a:lstStyle/>
                    <a:p>
                      <a:pPr algn="l"/>
                      <a:r>
                        <a:rPr lang="en-US" altLang="ko-KR" sz="1200">
                          <a:effectLst/>
                          <a:latin typeface="+mn-ea"/>
                          <a:ea typeface="+mn-ea"/>
                        </a:rPr>
                        <a:t>LoRA </a:t>
                      </a:r>
                      <a:r>
                        <a:rPr lang="ko-KR" altLang="en-US" sz="1200">
                          <a:effectLst/>
                          <a:latin typeface="+mn-ea"/>
                          <a:ea typeface="+mn-ea"/>
                        </a:rPr>
                        <a:t>드롭아웃 비율</a:t>
                      </a:r>
                    </a:p>
                  </a:txBody>
                  <a:tcPr marL="76200" marR="76200" marT="76200" marB="76200" anchor="ctr">
                    <a:lnL w="12700" cap="flat" cmpd="sng" algn="ctr">
                      <a:solidFill>
                        <a:schemeClr val="accent4"/>
                      </a:solidFill>
                      <a:prstDash val="solid"/>
                      <a:round/>
                      <a:headEnd type="none" w="med" len="med"/>
                      <a:tailEnd type="none" w="med" len="med"/>
                    </a:lnL>
                  </a:tcPr>
                </a:tc>
                <a:extLst>
                  <a:ext uri="{0D108BD9-81ED-4DB2-BD59-A6C34878D82A}">
                    <a16:rowId xmlns:a16="http://schemas.microsoft.com/office/drawing/2014/main" val="3524969272"/>
                  </a:ext>
                </a:extLst>
              </a:tr>
              <a:tr h="285472">
                <a:tc>
                  <a:txBody>
                    <a:bodyPr/>
                    <a:lstStyle/>
                    <a:p>
                      <a:pPr algn="l"/>
                      <a:r>
                        <a:rPr lang="en-US" sz="1200">
                          <a:effectLst/>
                          <a:latin typeface="+mn-ea"/>
                          <a:ea typeface="+mn-ea"/>
                        </a:rPr>
                        <a:t>warmup_ratio</a:t>
                      </a:r>
                    </a:p>
                  </a:txBody>
                  <a:tcPr marL="76200" marR="76200" marT="76200" marB="76200" anchor="ctr">
                    <a:lnR w="12700" cap="flat" cmpd="sng" algn="ctr">
                      <a:solidFill>
                        <a:schemeClr val="accent4"/>
                      </a:solidFill>
                      <a:prstDash val="solid"/>
                      <a:round/>
                      <a:headEnd type="none" w="med" len="med"/>
                      <a:tailEnd type="none" w="med" len="med"/>
                    </a:lnR>
                  </a:tcPr>
                </a:tc>
                <a:tc>
                  <a:txBody>
                    <a:bodyPr/>
                    <a:lstStyle/>
                    <a:p>
                      <a:pPr algn="l"/>
                      <a:r>
                        <a:rPr lang="en-US" altLang="ko-KR" sz="1200">
                          <a:effectLst/>
                          <a:latin typeface="+mn-ea"/>
                          <a:ea typeface="+mn-ea"/>
                        </a:rPr>
                        <a:t>0.0</a:t>
                      </a:r>
                    </a:p>
                  </a:txBody>
                  <a:tcPr marL="76200" marR="76200" marT="76200" marB="7620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tcPr>
                </a:tc>
                <a:tc>
                  <a:txBody>
                    <a:bodyPr/>
                    <a:lstStyle/>
                    <a:p>
                      <a:pPr algn="l"/>
                      <a:r>
                        <a:rPr lang="ko-KR" altLang="en-US" sz="1200">
                          <a:effectLst/>
                          <a:latin typeface="+mn-ea"/>
                          <a:ea typeface="+mn-ea"/>
                        </a:rPr>
                        <a:t>학습 초반 </a:t>
                      </a:r>
                      <a:r>
                        <a:rPr lang="en-US" sz="1200">
                          <a:effectLst/>
                          <a:latin typeface="+mn-ea"/>
                          <a:ea typeface="+mn-ea"/>
                        </a:rPr>
                        <a:t>learning rate </a:t>
                      </a:r>
                      <a:r>
                        <a:rPr lang="ko-KR" altLang="en-US" sz="1200">
                          <a:effectLst/>
                          <a:latin typeface="+mn-ea"/>
                          <a:ea typeface="+mn-ea"/>
                        </a:rPr>
                        <a:t>웜업 비율</a:t>
                      </a:r>
                    </a:p>
                  </a:txBody>
                  <a:tcPr marL="76200" marR="76200" marT="76200" marB="76200" anchor="ctr">
                    <a:lnL w="12700" cap="flat" cmpd="sng" algn="ctr">
                      <a:solidFill>
                        <a:schemeClr val="accent4"/>
                      </a:solidFill>
                      <a:prstDash val="solid"/>
                      <a:round/>
                      <a:headEnd type="none" w="med" len="med"/>
                      <a:tailEnd type="none" w="med" len="med"/>
                    </a:lnL>
                  </a:tcPr>
                </a:tc>
                <a:extLst>
                  <a:ext uri="{0D108BD9-81ED-4DB2-BD59-A6C34878D82A}">
                    <a16:rowId xmlns:a16="http://schemas.microsoft.com/office/drawing/2014/main" val="2455870564"/>
                  </a:ext>
                </a:extLst>
              </a:tr>
              <a:tr h="285472">
                <a:tc>
                  <a:txBody>
                    <a:bodyPr/>
                    <a:lstStyle/>
                    <a:p>
                      <a:pPr algn="l"/>
                      <a:r>
                        <a:rPr lang="en-US" sz="1200">
                          <a:effectLst/>
                          <a:latin typeface="+mn-ea"/>
                          <a:ea typeface="+mn-ea"/>
                        </a:rPr>
                        <a:t>per_device_train_batch_size</a:t>
                      </a:r>
                    </a:p>
                  </a:txBody>
                  <a:tcPr marL="76200" marR="76200" marT="76200" marB="76200" anchor="ctr">
                    <a:lnR w="12700" cap="flat" cmpd="sng" algn="ctr">
                      <a:solidFill>
                        <a:schemeClr val="accent4"/>
                      </a:solidFill>
                      <a:prstDash val="solid"/>
                      <a:round/>
                      <a:headEnd type="none" w="med" len="med"/>
                      <a:tailEnd type="none" w="med" len="med"/>
                    </a:lnR>
                  </a:tcPr>
                </a:tc>
                <a:tc>
                  <a:txBody>
                    <a:bodyPr/>
                    <a:lstStyle/>
                    <a:p>
                      <a:pPr algn="l"/>
                      <a:r>
                        <a:rPr lang="en-US" altLang="ko-KR" sz="1200">
                          <a:effectLst/>
                          <a:latin typeface="+mn-ea"/>
                          <a:ea typeface="+mn-ea"/>
                        </a:rPr>
                        <a:t>1</a:t>
                      </a:r>
                    </a:p>
                  </a:txBody>
                  <a:tcPr marL="76200" marR="76200" marT="76200" marB="7620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tcPr>
                </a:tc>
                <a:tc>
                  <a:txBody>
                    <a:bodyPr/>
                    <a:lstStyle/>
                    <a:p>
                      <a:pPr algn="l"/>
                      <a:r>
                        <a:rPr lang="ko-KR" altLang="en-US" sz="1200">
                          <a:effectLst/>
                          <a:latin typeface="+mn-ea"/>
                          <a:ea typeface="+mn-ea"/>
                        </a:rPr>
                        <a:t>배치 크기</a:t>
                      </a:r>
                    </a:p>
                  </a:txBody>
                  <a:tcPr marL="76200" marR="76200" marT="76200" marB="76200" anchor="ctr">
                    <a:lnL w="12700" cap="flat" cmpd="sng" algn="ctr">
                      <a:solidFill>
                        <a:schemeClr val="accent4"/>
                      </a:solidFill>
                      <a:prstDash val="solid"/>
                      <a:round/>
                      <a:headEnd type="none" w="med" len="med"/>
                      <a:tailEnd type="none" w="med" len="med"/>
                    </a:lnL>
                  </a:tcPr>
                </a:tc>
                <a:extLst>
                  <a:ext uri="{0D108BD9-81ED-4DB2-BD59-A6C34878D82A}">
                    <a16:rowId xmlns:a16="http://schemas.microsoft.com/office/drawing/2014/main" val="3102174832"/>
                  </a:ext>
                </a:extLst>
              </a:tr>
              <a:tr h="285472">
                <a:tc>
                  <a:txBody>
                    <a:bodyPr/>
                    <a:lstStyle/>
                    <a:p>
                      <a:pPr algn="l"/>
                      <a:r>
                        <a:rPr lang="en-US" sz="1200">
                          <a:effectLst/>
                          <a:latin typeface="+mn-ea"/>
                          <a:ea typeface="+mn-ea"/>
                        </a:rPr>
                        <a:t>gradient_accumulation_steps</a:t>
                      </a:r>
                    </a:p>
                  </a:txBody>
                  <a:tcPr marL="76200" marR="76200" marT="76200" marB="76200" anchor="ctr">
                    <a:lnR w="12700" cap="flat" cmpd="sng" algn="ctr">
                      <a:solidFill>
                        <a:schemeClr val="accent4"/>
                      </a:solidFill>
                      <a:prstDash val="solid"/>
                      <a:round/>
                      <a:headEnd type="none" w="med" len="med"/>
                      <a:tailEnd type="none" w="med" len="med"/>
                    </a:lnR>
                  </a:tcPr>
                </a:tc>
                <a:tc>
                  <a:txBody>
                    <a:bodyPr/>
                    <a:lstStyle/>
                    <a:p>
                      <a:pPr algn="l"/>
                      <a:r>
                        <a:rPr lang="en-US" altLang="ko-KR" sz="1200">
                          <a:effectLst/>
                          <a:latin typeface="+mn-ea"/>
                          <a:ea typeface="+mn-ea"/>
                        </a:rPr>
                        <a:t>16</a:t>
                      </a:r>
                    </a:p>
                  </a:txBody>
                  <a:tcPr marL="76200" marR="76200" marT="76200" marB="7620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tcPr>
                </a:tc>
                <a:tc>
                  <a:txBody>
                    <a:bodyPr/>
                    <a:lstStyle/>
                    <a:p>
                      <a:pPr algn="l"/>
                      <a:r>
                        <a:rPr lang="en-US" sz="1200">
                          <a:effectLst/>
                          <a:latin typeface="+mn-ea"/>
                          <a:ea typeface="+mn-ea"/>
                        </a:rPr>
                        <a:t>gradient </a:t>
                      </a:r>
                      <a:r>
                        <a:rPr lang="ko-KR" altLang="en-US" sz="1200">
                          <a:effectLst/>
                          <a:latin typeface="+mn-ea"/>
                          <a:ea typeface="+mn-ea"/>
                        </a:rPr>
                        <a:t>누적 스텝</a:t>
                      </a:r>
                    </a:p>
                  </a:txBody>
                  <a:tcPr marL="76200" marR="76200" marT="76200" marB="76200" anchor="ctr">
                    <a:lnL w="12700" cap="flat" cmpd="sng" algn="ctr">
                      <a:solidFill>
                        <a:schemeClr val="accent4"/>
                      </a:solidFill>
                      <a:prstDash val="solid"/>
                      <a:round/>
                      <a:headEnd type="none" w="med" len="med"/>
                      <a:tailEnd type="none" w="med" len="med"/>
                    </a:lnL>
                  </a:tcPr>
                </a:tc>
                <a:extLst>
                  <a:ext uri="{0D108BD9-81ED-4DB2-BD59-A6C34878D82A}">
                    <a16:rowId xmlns:a16="http://schemas.microsoft.com/office/drawing/2014/main" val="430816232"/>
                  </a:ext>
                </a:extLst>
              </a:tr>
              <a:tr h="285472">
                <a:tc>
                  <a:txBody>
                    <a:bodyPr/>
                    <a:lstStyle/>
                    <a:p>
                      <a:pPr algn="l"/>
                      <a:r>
                        <a:rPr lang="en-US" sz="1200">
                          <a:effectLst/>
                          <a:latin typeface="+mn-ea"/>
                          <a:ea typeface="+mn-ea"/>
                        </a:rPr>
                        <a:t>max_seq_length (MAX_LEN)</a:t>
                      </a:r>
                    </a:p>
                  </a:txBody>
                  <a:tcPr marL="76200" marR="76200" marT="76200" marB="76200" anchor="ctr">
                    <a:lnR w="12700" cap="flat" cmpd="sng" algn="ctr">
                      <a:solidFill>
                        <a:schemeClr val="accent4"/>
                      </a:solidFill>
                      <a:prstDash val="solid"/>
                      <a:round/>
                      <a:headEnd type="none" w="med" len="med"/>
                      <a:tailEnd type="none" w="med" len="med"/>
                    </a:lnR>
                  </a:tcPr>
                </a:tc>
                <a:tc>
                  <a:txBody>
                    <a:bodyPr/>
                    <a:lstStyle/>
                    <a:p>
                      <a:pPr algn="l"/>
                      <a:r>
                        <a:rPr lang="en-US" altLang="ko-KR" sz="1200">
                          <a:effectLst/>
                          <a:latin typeface="+mn-ea"/>
                          <a:ea typeface="+mn-ea"/>
                        </a:rPr>
                        <a:t>2048</a:t>
                      </a:r>
                    </a:p>
                  </a:txBody>
                  <a:tcPr marL="76200" marR="76200" marT="76200" marB="76200" anchor="ct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tcPr>
                </a:tc>
                <a:tc>
                  <a:txBody>
                    <a:bodyPr/>
                    <a:lstStyle/>
                    <a:p>
                      <a:pPr algn="l"/>
                      <a:r>
                        <a:rPr lang="ko-KR" altLang="en-US" sz="1200">
                          <a:effectLst/>
                          <a:latin typeface="+mn-ea"/>
                          <a:ea typeface="+mn-ea"/>
                        </a:rPr>
                        <a:t>최대 토큰 길이</a:t>
                      </a:r>
                    </a:p>
                  </a:txBody>
                  <a:tcPr marL="76200" marR="76200" marT="76200" marB="76200" anchor="ctr">
                    <a:lnL w="12700" cap="flat" cmpd="sng" algn="ctr">
                      <a:solidFill>
                        <a:schemeClr val="accent4"/>
                      </a:solidFill>
                      <a:prstDash val="solid"/>
                      <a:round/>
                      <a:headEnd type="none" w="med" len="med"/>
                      <a:tailEnd type="none" w="med" len="med"/>
                    </a:lnL>
                  </a:tcPr>
                </a:tc>
                <a:extLst>
                  <a:ext uri="{0D108BD9-81ED-4DB2-BD59-A6C34878D82A}">
                    <a16:rowId xmlns:a16="http://schemas.microsoft.com/office/drawing/2014/main" val="2613052543"/>
                  </a:ext>
                </a:extLst>
              </a:tr>
            </a:tbl>
          </a:graphicData>
        </a:graphic>
      </p:graphicFrame>
      <p:sp>
        <p:nvSpPr>
          <p:cNvPr id="16" name="TextBox 15">
            <a:extLst>
              <a:ext uri="{FF2B5EF4-FFF2-40B4-BE49-F238E27FC236}">
                <a16:creationId xmlns:a16="http://schemas.microsoft.com/office/drawing/2014/main" id="{96A258FF-4F5D-4784-B9DA-94918ACEE93A}"/>
              </a:ext>
            </a:extLst>
          </p:cNvPr>
          <p:cNvSpPr txBox="1"/>
          <p:nvPr/>
        </p:nvSpPr>
        <p:spPr>
          <a:xfrm>
            <a:off x="5996353" y="1686690"/>
            <a:ext cx="5134708" cy="369332"/>
          </a:xfrm>
          <a:prstGeom prst="rect">
            <a:avLst/>
          </a:prstGeom>
          <a:noFill/>
        </p:spPr>
        <p:txBody>
          <a:bodyPr wrap="square" rtlCol="0">
            <a:spAutoFit/>
          </a:bodyPr>
          <a:lstStyle/>
          <a:p>
            <a:pPr marL="285750" indent="-285750">
              <a:buFont typeface="Arial" panose="020B0604020202020204" pitchFamily="34" charset="0"/>
              <a:buChar char="•"/>
            </a:pPr>
            <a:r>
              <a:rPr lang="en-US" altLang="ko-KR"/>
              <a:t>Hyperparameters</a:t>
            </a:r>
            <a:endParaRPr lang="ko-KR" altLang="en-US"/>
          </a:p>
        </p:txBody>
      </p:sp>
      <p:sp>
        <p:nvSpPr>
          <p:cNvPr id="17" name="TextBox 16">
            <a:extLst>
              <a:ext uri="{FF2B5EF4-FFF2-40B4-BE49-F238E27FC236}">
                <a16:creationId xmlns:a16="http://schemas.microsoft.com/office/drawing/2014/main" id="{A9EB37BD-B88A-42E1-B87F-9309DCB38CCA}"/>
              </a:ext>
            </a:extLst>
          </p:cNvPr>
          <p:cNvSpPr txBox="1"/>
          <p:nvPr/>
        </p:nvSpPr>
        <p:spPr>
          <a:xfrm>
            <a:off x="332197" y="3895443"/>
            <a:ext cx="5134708" cy="369332"/>
          </a:xfrm>
          <a:prstGeom prst="rect">
            <a:avLst/>
          </a:prstGeom>
          <a:noFill/>
        </p:spPr>
        <p:txBody>
          <a:bodyPr wrap="square" rtlCol="0">
            <a:spAutoFit/>
          </a:bodyPr>
          <a:lstStyle/>
          <a:p>
            <a:pPr marL="285750" indent="-285750">
              <a:buFont typeface="Arial" panose="020B0604020202020204" pitchFamily="34" charset="0"/>
              <a:buChar char="•"/>
            </a:pPr>
            <a:r>
              <a:rPr lang="en-US" altLang="ko-KR"/>
              <a:t>New Adapter (week6_lora_v02)</a:t>
            </a:r>
            <a:endParaRPr lang="ko-KR" altLang="en-US"/>
          </a:p>
        </p:txBody>
      </p:sp>
    </p:spTree>
    <p:extLst>
      <p:ext uri="{BB962C8B-B14F-4D97-AF65-F5344CB8AC3E}">
        <p14:creationId xmlns:p14="http://schemas.microsoft.com/office/powerpoint/2010/main" val="23767303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DE24D624-00AF-4FB6-8786-D7AB951BEB27}"/>
              </a:ext>
            </a:extLst>
          </p:cNvPr>
          <p:cNvSpPr/>
          <p:nvPr/>
        </p:nvSpPr>
        <p:spPr>
          <a:xfrm>
            <a:off x="251806" y="4475285"/>
            <a:ext cx="11630144" cy="220686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직사각형 4">
            <a:extLst>
              <a:ext uri="{FF2B5EF4-FFF2-40B4-BE49-F238E27FC236}">
                <a16:creationId xmlns:a16="http://schemas.microsoft.com/office/drawing/2014/main" id="{DD67D740-3237-434A-A5DB-5B77266DAEDF}"/>
              </a:ext>
            </a:extLst>
          </p:cNvPr>
          <p:cNvSpPr/>
          <p:nvPr/>
        </p:nvSpPr>
        <p:spPr>
          <a:xfrm>
            <a:off x="371081" y="458189"/>
            <a:ext cx="4253501" cy="544530"/>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TextBox 1">
            <a:extLst>
              <a:ext uri="{FF2B5EF4-FFF2-40B4-BE49-F238E27FC236}">
                <a16:creationId xmlns:a16="http://schemas.microsoft.com/office/drawing/2014/main" id="{C2B65D57-FEA0-4158-9072-5DE4D5093DD2}"/>
              </a:ext>
            </a:extLst>
          </p:cNvPr>
          <p:cNvSpPr txBox="1"/>
          <p:nvPr/>
        </p:nvSpPr>
        <p:spPr>
          <a:xfrm>
            <a:off x="371081" y="458189"/>
            <a:ext cx="9883740" cy="3508653"/>
          </a:xfrm>
          <a:prstGeom prst="rect">
            <a:avLst/>
          </a:prstGeom>
          <a:noFill/>
        </p:spPr>
        <p:txBody>
          <a:bodyPr wrap="square" rtlCol="0">
            <a:spAutoFit/>
          </a:bodyPr>
          <a:lstStyle/>
          <a:p>
            <a:r>
              <a:rPr lang="en-US" altLang="ko-KR" sz="2800" b="1">
                <a:effectLst/>
              </a:rPr>
              <a:t>[SMOKE TEST OUTPUT] </a:t>
            </a:r>
          </a:p>
          <a:p>
            <a:br>
              <a:rPr lang="en-US" altLang="ko-KR"/>
            </a:br>
            <a:r>
              <a:rPr lang="en-US" altLang="ko-KR" sz="1600"/>
              <a:t>You are a geology and hyperspectral remote sensing assistant.</a:t>
            </a:r>
          </a:p>
          <a:p>
            <a:endParaRPr lang="en-US" altLang="ko-KR" sz="1600"/>
          </a:p>
          <a:p>
            <a:r>
              <a:rPr lang="en-US" altLang="ko-KR" sz="1600" b="1"/>
              <a:t>Instruction:</a:t>
            </a:r>
            <a:r>
              <a:rPr lang="en-US" altLang="ko-KR" sz="1600"/>
              <a:t> Summarize how dolomitization affected economic value in the study.</a:t>
            </a:r>
          </a:p>
          <a:p>
            <a:endParaRPr lang="en-US" altLang="ko-KR" sz="1600"/>
          </a:p>
          <a:p>
            <a:r>
              <a:rPr lang="en-US" altLang="ko-KR" sz="1600" b="1"/>
              <a:t>Context: </a:t>
            </a:r>
            <a:r>
              <a:rPr lang="en-US" altLang="ko-KR" sz="1600"/>
              <a:t>Results show igneous intrusion reduced economic value by ~80% compared to pure limestone, and hydrothermal alteration caused extensive dolomitization, transforming limestone into dolostone.</a:t>
            </a:r>
          </a:p>
          <a:p>
            <a:endParaRPr lang="en-US" altLang="ko-KR" sz="1600"/>
          </a:p>
          <a:p>
            <a:r>
              <a:rPr lang="en-US" altLang="ko-KR" sz="1600" b="1"/>
              <a:t>Answer: </a:t>
            </a:r>
            <a:r>
              <a:rPr lang="en-US" altLang="ko-KR" sz="1600"/>
              <a:t>"&lt;context&gt; Results show igneous intrusion reduced economic value by ~80% compared to pure limestone, and hydrothermal alteration caused extensive dolomitization, transforming limestone into dolostone. This study highlights the importance of considering geological processes in economic assessments, as they can significantly impact the economic value of carbonate reservoirs. &lt;/context&gt;"</a:t>
            </a:r>
            <a:endParaRPr lang="ko-KR" altLang="en-US" sz="1600"/>
          </a:p>
        </p:txBody>
      </p:sp>
      <p:pic>
        <p:nvPicPr>
          <p:cNvPr id="6" name="그림 5">
            <a:extLst>
              <a:ext uri="{FF2B5EF4-FFF2-40B4-BE49-F238E27FC236}">
                <a16:creationId xmlns:a16="http://schemas.microsoft.com/office/drawing/2014/main" id="{2E9E5760-4A4E-4DDF-A94C-B51D4063DF55}"/>
              </a:ext>
            </a:extLst>
          </p:cNvPr>
          <p:cNvPicPr>
            <a:picLocks noChangeAspect="1"/>
          </p:cNvPicPr>
          <p:nvPr/>
        </p:nvPicPr>
        <p:blipFill>
          <a:blip r:embed="rId2"/>
          <a:stretch>
            <a:fillRect/>
          </a:stretch>
        </p:blipFill>
        <p:spPr>
          <a:xfrm>
            <a:off x="5167818" y="474972"/>
            <a:ext cx="6594857" cy="527747"/>
          </a:xfrm>
          <a:prstGeom prst="rect">
            <a:avLst/>
          </a:prstGeom>
          <a:effectLst>
            <a:outerShdw blurRad="50800" dist="38100" dir="2700000" algn="tl" rotWithShape="0">
              <a:prstClr val="black">
                <a:alpha val="40000"/>
              </a:prstClr>
            </a:outerShdw>
          </a:effectLst>
        </p:spPr>
      </p:pic>
      <p:sp>
        <p:nvSpPr>
          <p:cNvPr id="8" name="TextBox 7">
            <a:extLst>
              <a:ext uri="{FF2B5EF4-FFF2-40B4-BE49-F238E27FC236}">
                <a16:creationId xmlns:a16="http://schemas.microsoft.com/office/drawing/2014/main" id="{500805F0-3168-4BEF-8E67-D9663C1B49A4}"/>
              </a:ext>
            </a:extLst>
          </p:cNvPr>
          <p:cNvSpPr txBox="1"/>
          <p:nvPr/>
        </p:nvSpPr>
        <p:spPr>
          <a:xfrm>
            <a:off x="371081" y="4581955"/>
            <a:ext cx="11391594" cy="2031325"/>
          </a:xfrm>
          <a:prstGeom prst="rect">
            <a:avLst/>
          </a:prstGeom>
          <a:noFill/>
        </p:spPr>
        <p:txBody>
          <a:bodyPr wrap="square" rtlCol="0">
            <a:spAutoFit/>
          </a:bodyPr>
          <a:lstStyle/>
          <a:p>
            <a:r>
              <a:rPr lang="en-US" altLang="ko-KR"/>
              <a:t>Looking at the smoke test results of the model, for questions on unfamiliar topics (e.g., dolomitization) or in untrained areas, the model tended to repeat the given context rather than attempting actual inference.</a:t>
            </a:r>
          </a:p>
          <a:p>
            <a:br>
              <a:rPr lang="en-US" altLang="ko-KR"/>
            </a:br>
            <a:r>
              <a:rPr lang="en-US" altLang="ko-KR" b="1"/>
              <a:t>This suggests a limitation:</a:t>
            </a:r>
            <a:r>
              <a:rPr lang="en-US" altLang="ko-KR"/>
              <a:t> the model is fine-tuned solely on </a:t>
            </a:r>
            <a:r>
              <a:rPr lang="en-US" altLang="ko-KR" b="1">
                <a:solidFill>
                  <a:schemeClr val="accent1">
                    <a:lumMod val="50000"/>
                  </a:schemeClr>
                </a:solidFill>
              </a:rPr>
              <a:t>water-related knowledge</a:t>
            </a:r>
            <a:r>
              <a:rPr lang="en-US" altLang="ko-KR"/>
              <a:t>, failing to offer new explanations or interpretations for topics outside its scope of study. Ultimately, the smoke test clearly demonstrates that models with domain-specific learning generate only limited answers to questions outside their own domain of expertise.</a:t>
            </a:r>
            <a:endParaRPr lang="ko-KR" altLang="en-US"/>
          </a:p>
        </p:txBody>
      </p:sp>
    </p:spTree>
    <p:extLst>
      <p:ext uri="{BB962C8B-B14F-4D97-AF65-F5344CB8AC3E}">
        <p14:creationId xmlns:p14="http://schemas.microsoft.com/office/powerpoint/2010/main" val="13210397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3">
            <a:extLst>
              <a:ext uri="{FF2B5EF4-FFF2-40B4-BE49-F238E27FC236}">
                <a16:creationId xmlns:a16="http://schemas.microsoft.com/office/drawing/2014/main" id="{9D5CA82D-0588-4C90-8CA1-9AD293776F8E}"/>
              </a:ext>
            </a:extLst>
          </p:cNvPr>
          <p:cNvPicPr>
            <a:picLocks noChangeAspect="1"/>
          </p:cNvPicPr>
          <p:nvPr/>
        </p:nvPicPr>
        <p:blipFill>
          <a:blip r:embed="rId2"/>
          <a:stretch>
            <a:fillRect/>
          </a:stretch>
        </p:blipFill>
        <p:spPr>
          <a:xfrm>
            <a:off x="1688122" y="985321"/>
            <a:ext cx="9020907" cy="2891239"/>
          </a:xfrm>
          <a:prstGeom prst="rect">
            <a:avLst/>
          </a:prstGeom>
        </p:spPr>
      </p:pic>
      <p:sp>
        <p:nvSpPr>
          <p:cNvPr id="6" name="직사각형 5">
            <a:extLst>
              <a:ext uri="{FF2B5EF4-FFF2-40B4-BE49-F238E27FC236}">
                <a16:creationId xmlns:a16="http://schemas.microsoft.com/office/drawing/2014/main" id="{3ADC5A14-81D6-4D6A-AA85-D734B841F65C}"/>
              </a:ext>
            </a:extLst>
          </p:cNvPr>
          <p:cNvSpPr/>
          <p:nvPr/>
        </p:nvSpPr>
        <p:spPr>
          <a:xfrm>
            <a:off x="332198" y="235925"/>
            <a:ext cx="4090333" cy="54453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 name="TextBox 6">
            <a:extLst>
              <a:ext uri="{FF2B5EF4-FFF2-40B4-BE49-F238E27FC236}">
                <a16:creationId xmlns:a16="http://schemas.microsoft.com/office/drawing/2014/main" id="{5E918D46-A21D-47BB-A4B8-9ADBCEAA450D}"/>
              </a:ext>
            </a:extLst>
          </p:cNvPr>
          <p:cNvSpPr txBox="1"/>
          <p:nvPr/>
        </p:nvSpPr>
        <p:spPr>
          <a:xfrm>
            <a:off x="332198" y="235925"/>
            <a:ext cx="4160672" cy="523220"/>
          </a:xfrm>
          <a:prstGeom prst="rect">
            <a:avLst/>
          </a:prstGeom>
          <a:noFill/>
        </p:spPr>
        <p:txBody>
          <a:bodyPr wrap="square" rtlCol="0">
            <a:spAutoFit/>
          </a:bodyPr>
          <a:lstStyle/>
          <a:p>
            <a:r>
              <a:rPr lang="en-US" altLang="ko-KR" sz="2800" b="1">
                <a:effectLst/>
              </a:rPr>
              <a:t>[TensorBoard OUTPUT] </a:t>
            </a:r>
          </a:p>
        </p:txBody>
      </p:sp>
      <p:sp>
        <p:nvSpPr>
          <p:cNvPr id="8" name="직사각형 7">
            <a:extLst>
              <a:ext uri="{FF2B5EF4-FFF2-40B4-BE49-F238E27FC236}">
                <a16:creationId xmlns:a16="http://schemas.microsoft.com/office/drawing/2014/main" id="{B334455F-D64A-46A1-A70C-B5621EE5B34F}"/>
              </a:ext>
            </a:extLst>
          </p:cNvPr>
          <p:cNvSpPr/>
          <p:nvPr/>
        </p:nvSpPr>
        <p:spPr>
          <a:xfrm>
            <a:off x="9038493" y="3006969"/>
            <a:ext cx="448408" cy="42203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직사각형 8">
            <a:extLst>
              <a:ext uri="{FF2B5EF4-FFF2-40B4-BE49-F238E27FC236}">
                <a16:creationId xmlns:a16="http://schemas.microsoft.com/office/drawing/2014/main" id="{15534A6F-9191-45D9-B921-C27DB8C8B930}"/>
              </a:ext>
            </a:extLst>
          </p:cNvPr>
          <p:cNvSpPr/>
          <p:nvPr/>
        </p:nvSpPr>
        <p:spPr>
          <a:xfrm>
            <a:off x="7836877" y="1081454"/>
            <a:ext cx="682869" cy="21394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a:extLst>
              <a:ext uri="{FF2B5EF4-FFF2-40B4-BE49-F238E27FC236}">
                <a16:creationId xmlns:a16="http://schemas.microsoft.com/office/drawing/2014/main" id="{3625BB08-E51A-4688-B4A5-A51A9506EB31}"/>
              </a:ext>
            </a:extLst>
          </p:cNvPr>
          <p:cNvSpPr txBox="1"/>
          <p:nvPr/>
        </p:nvSpPr>
        <p:spPr>
          <a:xfrm>
            <a:off x="8626946" y="3429000"/>
            <a:ext cx="1271502" cy="369332"/>
          </a:xfrm>
          <a:prstGeom prst="rect">
            <a:avLst/>
          </a:prstGeom>
          <a:noFill/>
        </p:spPr>
        <p:txBody>
          <a:bodyPr wrap="none" rtlCol="0">
            <a:spAutoFit/>
          </a:bodyPr>
          <a:lstStyle/>
          <a:p>
            <a:r>
              <a:rPr lang="en-US" altLang="ko-KR" b="1">
                <a:solidFill>
                  <a:srgbClr val="FF0000"/>
                </a:solidFill>
              </a:rPr>
              <a:t>Decent fit</a:t>
            </a:r>
            <a:endParaRPr lang="ko-KR" altLang="en-US" b="1" dirty="0">
              <a:solidFill>
                <a:srgbClr val="FF0000"/>
              </a:solidFill>
            </a:endParaRPr>
          </a:p>
        </p:txBody>
      </p:sp>
      <p:pic>
        <p:nvPicPr>
          <p:cNvPr id="12" name="그림 11">
            <a:extLst>
              <a:ext uri="{FF2B5EF4-FFF2-40B4-BE49-F238E27FC236}">
                <a16:creationId xmlns:a16="http://schemas.microsoft.com/office/drawing/2014/main" id="{2F6C9C29-1A9C-4675-8D20-168A571820C6}"/>
              </a:ext>
            </a:extLst>
          </p:cNvPr>
          <p:cNvPicPr>
            <a:picLocks noChangeAspect="1"/>
          </p:cNvPicPr>
          <p:nvPr/>
        </p:nvPicPr>
        <p:blipFill>
          <a:blip r:embed="rId3"/>
          <a:stretch>
            <a:fillRect/>
          </a:stretch>
        </p:blipFill>
        <p:spPr>
          <a:xfrm>
            <a:off x="1688122" y="3851031"/>
            <a:ext cx="9020907" cy="2871106"/>
          </a:xfrm>
          <a:prstGeom prst="rect">
            <a:avLst/>
          </a:prstGeom>
        </p:spPr>
      </p:pic>
    </p:spTree>
    <p:extLst>
      <p:ext uri="{BB962C8B-B14F-4D97-AF65-F5344CB8AC3E}">
        <p14:creationId xmlns:p14="http://schemas.microsoft.com/office/powerpoint/2010/main" val="32709207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직사각형 5">
            <a:extLst>
              <a:ext uri="{FF2B5EF4-FFF2-40B4-BE49-F238E27FC236}">
                <a16:creationId xmlns:a16="http://schemas.microsoft.com/office/drawing/2014/main" id="{3ADC5A14-81D6-4D6A-AA85-D734B841F65C}"/>
              </a:ext>
            </a:extLst>
          </p:cNvPr>
          <p:cNvSpPr/>
          <p:nvPr/>
        </p:nvSpPr>
        <p:spPr>
          <a:xfrm>
            <a:off x="332199" y="235925"/>
            <a:ext cx="3738640" cy="54453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7" name="TextBox 6">
            <a:extLst>
              <a:ext uri="{FF2B5EF4-FFF2-40B4-BE49-F238E27FC236}">
                <a16:creationId xmlns:a16="http://schemas.microsoft.com/office/drawing/2014/main" id="{5E918D46-A21D-47BB-A4B8-9ADBCEAA450D}"/>
              </a:ext>
            </a:extLst>
          </p:cNvPr>
          <p:cNvSpPr txBox="1"/>
          <p:nvPr/>
        </p:nvSpPr>
        <p:spPr>
          <a:xfrm>
            <a:off x="332198" y="235925"/>
            <a:ext cx="3738640" cy="523220"/>
          </a:xfrm>
          <a:prstGeom prst="rect">
            <a:avLst/>
          </a:prstGeom>
          <a:noFill/>
        </p:spPr>
        <p:txBody>
          <a:bodyPr wrap="square" rtlCol="0">
            <a:spAutoFit/>
          </a:bodyPr>
          <a:lstStyle/>
          <a:p>
            <a:r>
              <a:rPr lang="en-US" altLang="ko-KR" sz="2800" b="1">
                <a:effectLst/>
              </a:rPr>
              <a:t>[Change in OUTPUT] </a:t>
            </a:r>
          </a:p>
        </p:txBody>
      </p:sp>
      <p:pic>
        <p:nvPicPr>
          <p:cNvPr id="11" name="그림 10">
            <a:extLst>
              <a:ext uri="{FF2B5EF4-FFF2-40B4-BE49-F238E27FC236}">
                <a16:creationId xmlns:a16="http://schemas.microsoft.com/office/drawing/2014/main" id="{6D0F0A18-F007-48EB-8737-3A382B61A9A0}"/>
              </a:ext>
            </a:extLst>
          </p:cNvPr>
          <p:cNvPicPr>
            <a:picLocks noChangeAspect="1"/>
          </p:cNvPicPr>
          <p:nvPr/>
        </p:nvPicPr>
        <p:blipFill rotWithShape="1">
          <a:blip r:embed="rId2"/>
          <a:srcRect l="66896" t="5512" b="43413"/>
          <a:stretch/>
        </p:blipFill>
        <p:spPr>
          <a:xfrm>
            <a:off x="1676401" y="2053370"/>
            <a:ext cx="2855568" cy="2932400"/>
          </a:xfrm>
          <a:prstGeom prst="rect">
            <a:avLst/>
          </a:prstGeom>
        </p:spPr>
      </p:pic>
      <p:sp>
        <p:nvSpPr>
          <p:cNvPr id="12" name="직사각형 11">
            <a:extLst>
              <a:ext uri="{FF2B5EF4-FFF2-40B4-BE49-F238E27FC236}">
                <a16:creationId xmlns:a16="http://schemas.microsoft.com/office/drawing/2014/main" id="{A02D7296-3BA6-45FD-8CF7-A1C84C8F1EE8}"/>
              </a:ext>
            </a:extLst>
          </p:cNvPr>
          <p:cNvSpPr/>
          <p:nvPr/>
        </p:nvSpPr>
        <p:spPr>
          <a:xfrm>
            <a:off x="2962031" y="4111992"/>
            <a:ext cx="431799" cy="38496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TextBox 12">
            <a:extLst>
              <a:ext uri="{FF2B5EF4-FFF2-40B4-BE49-F238E27FC236}">
                <a16:creationId xmlns:a16="http://schemas.microsoft.com/office/drawing/2014/main" id="{5759C40D-1741-488A-803A-061E24972634}"/>
              </a:ext>
            </a:extLst>
          </p:cNvPr>
          <p:cNvSpPr txBox="1"/>
          <p:nvPr/>
        </p:nvSpPr>
        <p:spPr>
          <a:xfrm>
            <a:off x="2059162" y="4511786"/>
            <a:ext cx="2237536" cy="369332"/>
          </a:xfrm>
          <a:prstGeom prst="rect">
            <a:avLst/>
          </a:prstGeom>
          <a:noFill/>
        </p:spPr>
        <p:txBody>
          <a:bodyPr wrap="none" rtlCol="0">
            <a:spAutoFit/>
          </a:bodyPr>
          <a:lstStyle/>
          <a:p>
            <a:r>
              <a:rPr lang="en-US" altLang="ko-KR" b="1" dirty="0">
                <a:solidFill>
                  <a:srgbClr val="FF0000"/>
                </a:solidFill>
              </a:rPr>
              <a:t>Learning but weak</a:t>
            </a:r>
            <a:endParaRPr lang="ko-KR" altLang="en-US" b="1" dirty="0">
              <a:solidFill>
                <a:srgbClr val="FF0000"/>
              </a:solidFill>
            </a:endParaRPr>
          </a:p>
        </p:txBody>
      </p:sp>
      <p:sp>
        <p:nvSpPr>
          <p:cNvPr id="14" name="직사각형 13">
            <a:extLst>
              <a:ext uri="{FF2B5EF4-FFF2-40B4-BE49-F238E27FC236}">
                <a16:creationId xmlns:a16="http://schemas.microsoft.com/office/drawing/2014/main" id="{4B29BD7A-6F0B-45A5-A6E3-CB4CECE534D8}"/>
              </a:ext>
            </a:extLst>
          </p:cNvPr>
          <p:cNvSpPr/>
          <p:nvPr/>
        </p:nvSpPr>
        <p:spPr>
          <a:xfrm>
            <a:off x="1842498" y="2079504"/>
            <a:ext cx="742440" cy="21394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TextBox 1">
            <a:extLst>
              <a:ext uri="{FF2B5EF4-FFF2-40B4-BE49-F238E27FC236}">
                <a16:creationId xmlns:a16="http://schemas.microsoft.com/office/drawing/2014/main" id="{4CB8546F-8FBE-4DCD-8745-E678B85E8B85}"/>
              </a:ext>
            </a:extLst>
          </p:cNvPr>
          <p:cNvSpPr txBox="1"/>
          <p:nvPr/>
        </p:nvSpPr>
        <p:spPr>
          <a:xfrm>
            <a:off x="1551107" y="1512439"/>
            <a:ext cx="3451715" cy="369332"/>
          </a:xfrm>
          <a:prstGeom prst="rect">
            <a:avLst/>
          </a:prstGeom>
          <a:noFill/>
        </p:spPr>
        <p:txBody>
          <a:bodyPr wrap="square" rtlCol="0">
            <a:spAutoFit/>
          </a:bodyPr>
          <a:lstStyle/>
          <a:p>
            <a:r>
              <a:rPr lang="en-US" altLang="ko-KR"/>
              <a:t>&lt;</a:t>
            </a:r>
            <a:r>
              <a:rPr lang="en-US" altLang="ko-KR" b="1"/>
              <a:t>Previous assignment </a:t>
            </a:r>
            <a:r>
              <a:rPr lang="en-US" altLang="ko-KR"/>
              <a:t>(W5)&gt;</a:t>
            </a:r>
            <a:endParaRPr lang="ko-KR" altLang="en-US"/>
          </a:p>
        </p:txBody>
      </p:sp>
      <p:sp>
        <p:nvSpPr>
          <p:cNvPr id="15" name="TextBox 14">
            <a:extLst>
              <a:ext uri="{FF2B5EF4-FFF2-40B4-BE49-F238E27FC236}">
                <a16:creationId xmlns:a16="http://schemas.microsoft.com/office/drawing/2014/main" id="{E07F582C-F4A8-4D8F-9D2A-1C857B9D528A}"/>
              </a:ext>
            </a:extLst>
          </p:cNvPr>
          <p:cNvSpPr txBox="1"/>
          <p:nvPr/>
        </p:nvSpPr>
        <p:spPr>
          <a:xfrm>
            <a:off x="7196507" y="1556618"/>
            <a:ext cx="3675184" cy="369332"/>
          </a:xfrm>
          <a:prstGeom prst="rect">
            <a:avLst/>
          </a:prstGeom>
          <a:noFill/>
        </p:spPr>
        <p:txBody>
          <a:bodyPr wrap="square" rtlCol="0">
            <a:spAutoFit/>
          </a:bodyPr>
          <a:lstStyle/>
          <a:p>
            <a:r>
              <a:rPr lang="en-US" altLang="ko-KR"/>
              <a:t>&lt;</a:t>
            </a:r>
            <a:r>
              <a:rPr lang="en-US" altLang="ko-KR" b="1"/>
              <a:t>This week's assignment </a:t>
            </a:r>
            <a:r>
              <a:rPr lang="en-US" altLang="ko-KR"/>
              <a:t>(W6)&gt;</a:t>
            </a:r>
            <a:endParaRPr lang="ko-KR" altLang="en-US"/>
          </a:p>
        </p:txBody>
      </p:sp>
      <p:sp>
        <p:nvSpPr>
          <p:cNvPr id="4" name="화살표: 오른쪽 3">
            <a:extLst>
              <a:ext uri="{FF2B5EF4-FFF2-40B4-BE49-F238E27FC236}">
                <a16:creationId xmlns:a16="http://schemas.microsoft.com/office/drawing/2014/main" id="{92AD42CB-F411-4FA6-96E7-CEBCDB44E160}"/>
              </a:ext>
            </a:extLst>
          </p:cNvPr>
          <p:cNvSpPr/>
          <p:nvPr/>
        </p:nvSpPr>
        <p:spPr>
          <a:xfrm>
            <a:off x="5090745" y="2892669"/>
            <a:ext cx="1582615" cy="77372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TextBox 17">
            <a:extLst>
              <a:ext uri="{FF2B5EF4-FFF2-40B4-BE49-F238E27FC236}">
                <a16:creationId xmlns:a16="http://schemas.microsoft.com/office/drawing/2014/main" id="{1B0C2095-CCC3-422A-9BD4-BD334E80F58C}"/>
              </a:ext>
            </a:extLst>
          </p:cNvPr>
          <p:cNvSpPr txBox="1"/>
          <p:nvPr/>
        </p:nvSpPr>
        <p:spPr>
          <a:xfrm>
            <a:off x="2279171" y="5157369"/>
            <a:ext cx="1797517" cy="369332"/>
          </a:xfrm>
          <a:prstGeom prst="rect">
            <a:avLst/>
          </a:prstGeom>
          <a:noFill/>
        </p:spPr>
        <p:txBody>
          <a:bodyPr wrap="square" rtlCol="0">
            <a:spAutoFit/>
          </a:bodyPr>
          <a:lstStyle/>
          <a:p>
            <a:r>
              <a:rPr lang="en-US" altLang="ko-KR"/>
              <a:t>week5_lora_v01</a:t>
            </a:r>
            <a:endParaRPr lang="ko-KR" altLang="en-US"/>
          </a:p>
        </p:txBody>
      </p:sp>
      <p:sp>
        <p:nvSpPr>
          <p:cNvPr id="19" name="TextBox 18">
            <a:extLst>
              <a:ext uri="{FF2B5EF4-FFF2-40B4-BE49-F238E27FC236}">
                <a16:creationId xmlns:a16="http://schemas.microsoft.com/office/drawing/2014/main" id="{5A6D648A-B7E5-46FE-83F9-35C931A29B1B}"/>
              </a:ext>
            </a:extLst>
          </p:cNvPr>
          <p:cNvSpPr txBox="1"/>
          <p:nvPr/>
        </p:nvSpPr>
        <p:spPr>
          <a:xfrm>
            <a:off x="8093326" y="5157369"/>
            <a:ext cx="1951881" cy="369332"/>
          </a:xfrm>
          <a:prstGeom prst="rect">
            <a:avLst/>
          </a:prstGeom>
          <a:noFill/>
        </p:spPr>
        <p:txBody>
          <a:bodyPr wrap="square" rtlCol="0">
            <a:spAutoFit/>
          </a:bodyPr>
          <a:lstStyle/>
          <a:p>
            <a:r>
              <a:rPr lang="en-US" altLang="ko-KR"/>
              <a:t>week6_lora_v02</a:t>
            </a:r>
            <a:endParaRPr lang="ko-KR" altLang="en-US"/>
          </a:p>
        </p:txBody>
      </p:sp>
      <p:pic>
        <p:nvPicPr>
          <p:cNvPr id="17" name="그림 16">
            <a:extLst>
              <a:ext uri="{FF2B5EF4-FFF2-40B4-BE49-F238E27FC236}">
                <a16:creationId xmlns:a16="http://schemas.microsoft.com/office/drawing/2014/main" id="{0C4AC683-0D85-42E3-A644-99AB95EAF0B6}"/>
              </a:ext>
            </a:extLst>
          </p:cNvPr>
          <p:cNvPicPr>
            <a:picLocks noChangeAspect="1"/>
          </p:cNvPicPr>
          <p:nvPr/>
        </p:nvPicPr>
        <p:blipFill rotWithShape="1">
          <a:blip r:embed="rId3"/>
          <a:srcRect l="66201"/>
          <a:stretch/>
        </p:blipFill>
        <p:spPr>
          <a:xfrm>
            <a:off x="7466603" y="2094531"/>
            <a:ext cx="3048996" cy="2891239"/>
          </a:xfrm>
          <a:prstGeom prst="rect">
            <a:avLst/>
          </a:prstGeom>
        </p:spPr>
      </p:pic>
      <p:sp>
        <p:nvSpPr>
          <p:cNvPr id="20" name="직사각형 19">
            <a:extLst>
              <a:ext uri="{FF2B5EF4-FFF2-40B4-BE49-F238E27FC236}">
                <a16:creationId xmlns:a16="http://schemas.microsoft.com/office/drawing/2014/main" id="{8BBA7684-B0D9-483D-9EB8-18A403026FD1}"/>
              </a:ext>
            </a:extLst>
          </p:cNvPr>
          <p:cNvSpPr/>
          <p:nvPr/>
        </p:nvSpPr>
        <p:spPr>
          <a:xfrm>
            <a:off x="8845063" y="4116179"/>
            <a:ext cx="448408" cy="42203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a:extLst>
              <a:ext uri="{FF2B5EF4-FFF2-40B4-BE49-F238E27FC236}">
                <a16:creationId xmlns:a16="http://schemas.microsoft.com/office/drawing/2014/main" id="{066A7215-26AE-4021-AA6C-691B0C172AFB}"/>
              </a:ext>
            </a:extLst>
          </p:cNvPr>
          <p:cNvSpPr/>
          <p:nvPr/>
        </p:nvSpPr>
        <p:spPr>
          <a:xfrm>
            <a:off x="7622931" y="2215662"/>
            <a:ext cx="703385" cy="19343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TextBox 21">
            <a:extLst>
              <a:ext uri="{FF2B5EF4-FFF2-40B4-BE49-F238E27FC236}">
                <a16:creationId xmlns:a16="http://schemas.microsoft.com/office/drawing/2014/main" id="{26010BE5-194C-431D-AAA1-6A627FC50685}"/>
              </a:ext>
            </a:extLst>
          </p:cNvPr>
          <p:cNvSpPr txBox="1"/>
          <p:nvPr/>
        </p:nvSpPr>
        <p:spPr>
          <a:xfrm>
            <a:off x="8433516" y="4538210"/>
            <a:ext cx="1271502" cy="369332"/>
          </a:xfrm>
          <a:prstGeom prst="rect">
            <a:avLst/>
          </a:prstGeom>
          <a:noFill/>
        </p:spPr>
        <p:txBody>
          <a:bodyPr wrap="none" rtlCol="0">
            <a:spAutoFit/>
          </a:bodyPr>
          <a:lstStyle/>
          <a:p>
            <a:r>
              <a:rPr lang="en-US" altLang="ko-KR" b="1">
                <a:solidFill>
                  <a:srgbClr val="FF0000"/>
                </a:solidFill>
              </a:rPr>
              <a:t>Decent fit</a:t>
            </a:r>
            <a:endParaRPr lang="ko-KR" altLang="en-US" b="1" dirty="0">
              <a:solidFill>
                <a:srgbClr val="FF0000"/>
              </a:solidFill>
            </a:endParaRPr>
          </a:p>
        </p:txBody>
      </p:sp>
    </p:spTree>
    <p:extLst>
      <p:ext uri="{BB962C8B-B14F-4D97-AF65-F5344CB8AC3E}">
        <p14:creationId xmlns:p14="http://schemas.microsoft.com/office/powerpoint/2010/main" val="37936904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AF504650-9072-4933-B472-D321238EC6FA}"/>
              </a:ext>
            </a:extLst>
          </p:cNvPr>
          <p:cNvSpPr/>
          <p:nvPr/>
        </p:nvSpPr>
        <p:spPr>
          <a:xfrm>
            <a:off x="332199" y="235925"/>
            <a:ext cx="2665978" cy="54453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3" name="TextBox 2">
            <a:extLst>
              <a:ext uri="{FF2B5EF4-FFF2-40B4-BE49-F238E27FC236}">
                <a16:creationId xmlns:a16="http://schemas.microsoft.com/office/drawing/2014/main" id="{F072C8E2-E33D-485D-9EAA-B07C5DC420CF}"/>
              </a:ext>
            </a:extLst>
          </p:cNvPr>
          <p:cNvSpPr txBox="1"/>
          <p:nvPr/>
        </p:nvSpPr>
        <p:spPr>
          <a:xfrm>
            <a:off x="332198" y="235925"/>
            <a:ext cx="2736317" cy="523220"/>
          </a:xfrm>
          <a:prstGeom prst="rect">
            <a:avLst/>
          </a:prstGeom>
          <a:noFill/>
        </p:spPr>
        <p:txBody>
          <a:bodyPr wrap="square" rtlCol="0">
            <a:spAutoFit/>
          </a:bodyPr>
          <a:lstStyle/>
          <a:p>
            <a:r>
              <a:rPr lang="en-US" altLang="ko-KR" sz="2800" b="1">
                <a:effectLst/>
              </a:rPr>
              <a:t>[Question </a:t>
            </a:r>
            <a:r>
              <a:rPr lang="en-US" altLang="ko-KR" sz="2800" b="1"/>
              <a:t>List</a:t>
            </a:r>
            <a:r>
              <a:rPr lang="en-US" altLang="ko-KR" sz="2800" b="1">
                <a:effectLst/>
              </a:rPr>
              <a:t>] </a:t>
            </a:r>
          </a:p>
        </p:txBody>
      </p:sp>
      <p:sp>
        <p:nvSpPr>
          <p:cNvPr id="4" name="TextBox 3">
            <a:extLst>
              <a:ext uri="{FF2B5EF4-FFF2-40B4-BE49-F238E27FC236}">
                <a16:creationId xmlns:a16="http://schemas.microsoft.com/office/drawing/2014/main" id="{A64ADAA2-DADF-45D2-92FA-15243DBA3D21}"/>
              </a:ext>
            </a:extLst>
          </p:cNvPr>
          <p:cNvSpPr txBox="1"/>
          <p:nvPr/>
        </p:nvSpPr>
        <p:spPr>
          <a:xfrm>
            <a:off x="849601" y="1106218"/>
            <a:ext cx="10229023" cy="196977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tabLst/>
            </a:pPr>
            <a:r>
              <a:rPr kumimoji="0" lang="ko-KR" altLang="ko-KR" sz="2000" b="1" i="0" u="none" strike="noStrike" cap="none" normalizeH="0" baseline="0">
                <a:ln>
                  <a:noFill/>
                </a:ln>
                <a:solidFill>
                  <a:schemeClr val="tx1"/>
                </a:solidFill>
                <a:effectLst/>
                <a:latin typeface="Arial" panose="020B0604020202020204" pitchFamily="34" charset="0"/>
              </a:rPr>
              <a:t>Question 1 </a:t>
            </a:r>
            <a:r>
              <a:rPr kumimoji="0" lang="ko-KR" altLang="ko-KR" sz="2000" b="1" i="0" u="none" strike="noStrike" cap="none" normalizeH="0" baseline="0">
                <a:ln>
                  <a:noFill/>
                </a:ln>
                <a:solidFill>
                  <a:schemeClr val="bg1">
                    <a:lumMod val="65000"/>
                  </a:schemeClr>
                </a:solidFill>
                <a:effectLst/>
                <a:latin typeface="Arial" panose="020B0604020202020204" pitchFamily="34" charset="0"/>
              </a:rPr>
              <a:t>(Week 5 Knowledge)</a:t>
            </a:r>
            <a:endParaRPr kumimoji="0" lang="en-US" altLang="ko-KR" sz="2000" b="1" i="0" u="none" strike="noStrike" cap="none" normalizeH="0" baseline="0">
              <a:ln>
                <a:noFill/>
              </a:ln>
              <a:solidFill>
                <a:schemeClr val="bg1">
                  <a:lumMod val="6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ko-KR" altLang="ko-KR" b="1" i="0" u="none" strike="noStrike" cap="none" normalizeH="0" baseline="0">
                <a:ln>
                  <a:noFill/>
                </a:ln>
                <a:solidFill>
                  <a:schemeClr val="tx1"/>
                </a:solidFill>
                <a:effectLst/>
                <a:latin typeface="Arial" panose="020B0604020202020204" pitchFamily="34" charset="0"/>
              </a:rPr>
              <a:t>:</a:t>
            </a:r>
            <a:r>
              <a:rPr kumimoji="0" lang="en-US" altLang="ko-KR" b="1" i="0" u="none" strike="noStrike" cap="none" normalizeH="0" baseline="0">
                <a:ln>
                  <a:noFill/>
                </a:ln>
                <a:solidFill>
                  <a:schemeClr val="tx1"/>
                </a:solidFill>
                <a:effectLst/>
                <a:latin typeface="Arial" panose="020B0604020202020204" pitchFamily="34" charset="0"/>
              </a:rPr>
              <a:t> </a:t>
            </a:r>
            <a:r>
              <a:rPr kumimoji="0" lang="ko-KR" altLang="ko-KR" b="0" i="0" u="none" strike="noStrike" cap="none" normalizeH="0" baseline="0">
                <a:ln>
                  <a:noFill/>
                </a:ln>
                <a:solidFill>
                  <a:schemeClr val="tx1"/>
                </a:solidFill>
                <a:effectLst/>
                <a:latin typeface="Arial" panose="020B0604020202020204" pitchFamily="34" charset="0"/>
              </a:rPr>
              <a:t>Why do the authors propose geographically adaptive models (regional/local) instead of a single global regression for Chl-a retrieval in inland waters?</a:t>
            </a:r>
            <a:endParaRPr kumimoji="0" lang="en-US" altLang="ko-KR"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sz="2000" b="1" i="0" u="none" strike="noStrike" cap="none" normalizeH="0" baseline="0">
                <a:ln>
                  <a:noFill/>
                </a:ln>
                <a:solidFill>
                  <a:schemeClr val="tx1"/>
                </a:solidFill>
                <a:effectLst/>
                <a:latin typeface="Arial" panose="020B0604020202020204" pitchFamily="34" charset="0"/>
              </a:rPr>
              <a:t>Question 2 </a:t>
            </a:r>
            <a:r>
              <a:rPr kumimoji="0" lang="ko-KR" altLang="ko-KR" sz="2000" b="1" i="0" u="none" strike="noStrike" cap="none" normalizeH="0" baseline="0">
                <a:ln>
                  <a:noFill/>
                </a:ln>
                <a:solidFill>
                  <a:schemeClr val="bg1">
                    <a:lumMod val="65000"/>
                  </a:schemeClr>
                </a:solidFill>
                <a:effectLst/>
                <a:latin typeface="Arial" panose="020B0604020202020204" pitchFamily="34" charset="0"/>
              </a:rPr>
              <a:t>(Week 5 Knowledge)</a:t>
            </a:r>
            <a:endParaRPr kumimoji="0" lang="en-US" altLang="ko-KR" sz="2000" b="1" i="0" u="none" strike="noStrike" cap="none" normalizeH="0" baseline="0">
              <a:ln>
                <a:noFill/>
              </a:ln>
              <a:solidFill>
                <a:schemeClr val="bg1">
                  <a:lumMod val="6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b="1" i="0" u="none" strike="noStrike" cap="none" normalizeH="0" baseline="0">
                <a:ln>
                  <a:noFill/>
                </a:ln>
                <a:solidFill>
                  <a:schemeClr val="tx1"/>
                </a:solidFill>
                <a:effectLst/>
                <a:latin typeface="Arial" panose="020B0604020202020204" pitchFamily="34" charset="0"/>
              </a:rPr>
              <a:t>:</a:t>
            </a:r>
            <a:r>
              <a:rPr lang="en-US" altLang="ko-KR">
                <a:latin typeface="Arial" panose="020B0604020202020204" pitchFamily="34" charset="0"/>
              </a:rPr>
              <a:t> </a:t>
            </a:r>
            <a:r>
              <a:rPr kumimoji="0" lang="ko-KR" altLang="ko-KR" b="0" i="0" u="none" strike="noStrike" cap="none" normalizeH="0" baseline="0">
                <a:ln>
                  <a:noFill/>
                </a:ln>
                <a:solidFill>
                  <a:schemeClr val="tx1"/>
                </a:solidFill>
                <a:effectLst/>
                <a:latin typeface="Arial" panose="020B0604020202020204" pitchFamily="34" charset="0"/>
              </a:rPr>
              <a:t>Which atmospheric correction methods performed best for Sentinel-2A and for the airborne hyperspectral imagery, and what geolocation accuracies (RMSE) were achieved?</a:t>
            </a:r>
          </a:p>
        </p:txBody>
      </p:sp>
      <p:sp>
        <p:nvSpPr>
          <p:cNvPr id="10" name="TextBox 9">
            <a:extLst>
              <a:ext uri="{FF2B5EF4-FFF2-40B4-BE49-F238E27FC236}">
                <a16:creationId xmlns:a16="http://schemas.microsoft.com/office/drawing/2014/main" id="{CEE6D584-FF10-47C6-BF38-6E00137A1B25}"/>
              </a:ext>
            </a:extLst>
          </p:cNvPr>
          <p:cNvSpPr txBox="1"/>
          <p:nvPr/>
        </p:nvSpPr>
        <p:spPr>
          <a:xfrm>
            <a:off x="849600" y="3197236"/>
            <a:ext cx="10229023" cy="196977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tabLst/>
            </a:pPr>
            <a:r>
              <a:rPr kumimoji="0" lang="ko-KR" altLang="ko-KR" sz="2000" b="1" i="0" u="none" strike="noStrike" cap="none" normalizeH="0" baseline="0">
                <a:ln>
                  <a:noFill/>
                </a:ln>
                <a:solidFill>
                  <a:schemeClr val="tx1"/>
                </a:solidFill>
                <a:effectLst/>
                <a:latin typeface="Arial" panose="020B0604020202020204" pitchFamily="34" charset="0"/>
              </a:rPr>
              <a:t>Question </a:t>
            </a:r>
            <a:r>
              <a:rPr kumimoji="0" lang="en-US" altLang="ko-KR" sz="2000" b="1" i="0" u="none" strike="noStrike" cap="none" normalizeH="0" baseline="0">
                <a:ln>
                  <a:noFill/>
                </a:ln>
                <a:solidFill>
                  <a:schemeClr val="tx1"/>
                </a:solidFill>
                <a:effectLst/>
                <a:latin typeface="Arial" panose="020B0604020202020204" pitchFamily="34" charset="0"/>
              </a:rPr>
              <a:t>3</a:t>
            </a:r>
            <a:r>
              <a:rPr kumimoji="0" lang="ko-KR" altLang="ko-KR" sz="2000" b="1" i="0" u="none" strike="noStrike" cap="none" normalizeH="0" baseline="0">
                <a:ln>
                  <a:noFill/>
                </a:ln>
                <a:solidFill>
                  <a:schemeClr val="tx1"/>
                </a:solidFill>
                <a:effectLst/>
                <a:latin typeface="Arial" panose="020B0604020202020204" pitchFamily="34" charset="0"/>
              </a:rPr>
              <a:t> </a:t>
            </a:r>
            <a:r>
              <a:rPr kumimoji="0" lang="ko-KR" altLang="ko-KR" sz="2000" b="1" i="0" u="none" strike="noStrike" cap="none" normalizeH="0" baseline="0">
                <a:ln>
                  <a:noFill/>
                </a:ln>
                <a:solidFill>
                  <a:schemeClr val="bg1">
                    <a:lumMod val="65000"/>
                  </a:schemeClr>
                </a:solidFill>
                <a:effectLst/>
                <a:latin typeface="Arial" panose="020B0604020202020204" pitchFamily="34" charset="0"/>
              </a:rPr>
              <a:t>(Week </a:t>
            </a:r>
            <a:r>
              <a:rPr kumimoji="0" lang="en-US" altLang="ko-KR" sz="2000" b="1" i="0" u="none" strike="noStrike" cap="none" normalizeH="0" baseline="0">
                <a:ln>
                  <a:noFill/>
                </a:ln>
                <a:solidFill>
                  <a:schemeClr val="bg1">
                    <a:lumMod val="65000"/>
                  </a:schemeClr>
                </a:solidFill>
                <a:effectLst/>
                <a:latin typeface="Arial" panose="020B0604020202020204" pitchFamily="34" charset="0"/>
              </a:rPr>
              <a:t>6</a:t>
            </a:r>
            <a:r>
              <a:rPr kumimoji="0" lang="ko-KR" altLang="ko-KR" sz="2000" b="1" i="0" u="none" strike="noStrike" cap="none" normalizeH="0" baseline="0">
                <a:ln>
                  <a:noFill/>
                </a:ln>
                <a:solidFill>
                  <a:schemeClr val="bg1">
                    <a:lumMod val="65000"/>
                  </a:schemeClr>
                </a:solidFill>
                <a:effectLst/>
                <a:latin typeface="Arial" panose="020B0604020202020204" pitchFamily="34" charset="0"/>
              </a:rPr>
              <a:t> </a:t>
            </a:r>
            <a:r>
              <a:rPr kumimoji="0" lang="en-US" altLang="ko-KR" sz="2000" b="1" i="0" u="none" strike="noStrike" cap="none" normalizeH="0" baseline="0">
                <a:ln>
                  <a:noFill/>
                </a:ln>
                <a:solidFill>
                  <a:schemeClr val="bg1">
                    <a:lumMod val="65000"/>
                  </a:schemeClr>
                </a:solidFill>
                <a:effectLst/>
                <a:latin typeface="Arial" panose="020B0604020202020204" pitchFamily="34" charset="0"/>
              </a:rPr>
              <a:t>New </a:t>
            </a:r>
            <a:r>
              <a:rPr kumimoji="0" lang="ko-KR" altLang="ko-KR" sz="2000" b="1" i="0" u="none" strike="noStrike" cap="none" normalizeH="0" baseline="0">
                <a:ln>
                  <a:noFill/>
                </a:ln>
                <a:solidFill>
                  <a:schemeClr val="bg1">
                    <a:lumMod val="65000"/>
                  </a:schemeClr>
                </a:solidFill>
                <a:effectLst/>
                <a:latin typeface="Arial" panose="020B0604020202020204" pitchFamily="34" charset="0"/>
              </a:rPr>
              <a:t>Knowledge)</a:t>
            </a:r>
            <a:endParaRPr kumimoji="0" lang="en-US" altLang="ko-KR" sz="2000" b="1" i="0" u="none" strike="noStrike" cap="none" normalizeH="0" baseline="0">
              <a:ln>
                <a:noFill/>
              </a:ln>
              <a:solidFill>
                <a:schemeClr val="bg1">
                  <a:lumMod val="6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ko-KR" altLang="ko-KR" sz="1800" b="1" i="0" u="none" strike="noStrike" cap="none" normalizeH="0" baseline="0">
                <a:ln>
                  <a:noFill/>
                </a:ln>
                <a:solidFill>
                  <a:schemeClr val="tx1"/>
                </a:solidFill>
                <a:effectLst/>
                <a:latin typeface="Arial" panose="020B0604020202020204" pitchFamily="34" charset="0"/>
              </a:rPr>
              <a:t>:</a:t>
            </a:r>
            <a:r>
              <a:rPr kumimoji="0" lang="en-US" altLang="ko-KR" sz="1800" b="1" i="0" u="none" strike="noStrike" cap="none" normalizeH="0" baseline="0">
                <a:ln>
                  <a:noFill/>
                </a:ln>
                <a:solidFill>
                  <a:schemeClr val="tx1"/>
                </a:solidFill>
                <a:effectLst/>
                <a:latin typeface="Arial" panose="020B0604020202020204" pitchFamily="34" charset="0"/>
              </a:rPr>
              <a:t> </a:t>
            </a:r>
            <a:r>
              <a:rPr kumimoji="0" lang="en-US" altLang="ko-KR" sz="1800" i="0" u="none" strike="noStrike" cap="none" normalizeH="0" baseline="0">
                <a:ln>
                  <a:noFill/>
                </a:ln>
                <a:solidFill>
                  <a:schemeClr val="tx1"/>
                </a:solidFill>
                <a:effectLst/>
                <a:latin typeface="Arial" panose="020B0604020202020204" pitchFamily="34" charset="0"/>
              </a:rPr>
              <a:t>What is the advantage of the CNN-RF hybrid model for water quality monitoring, and how much did the R² values for TP, DO, and COD increase when environmental factors were included?</a:t>
            </a:r>
          </a:p>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sz="2000" b="1" i="0" u="none" strike="noStrike" cap="none" normalizeH="0" baseline="0">
                <a:ln>
                  <a:noFill/>
                </a:ln>
                <a:solidFill>
                  <a:schemeClr val="tx1"/>
                </a:solidFill>
                <a:effectLst/>
                <a:latin typeface="Arial" panose="020B0604020202020204" pitchFamily="34" charset="0"/>
              </a:rPr>
              <a:t>Question </a:t>
            </a:r>
            <a:r>
              <a:rPr kumimoji="0" lang="en-US" altLang="ko-KR" sz="2000" b="1" i="0" u="none" strike="noStrike" cap="none" normalizeH="0" baseline="0">
                <a:ln>
                  <a:noFill/>
                </a:ln>
                <a:solidFill>
                  <a:schemeClr val="tx1"/>
                </a:solidFill>
                <a:effectLst/>
                <a:latin typeface="Arial" panose="020B0604020202020204" pitchFamily="34" charset="0"/>
              </a:rPr>
              <a:t>4</a:t>
            </a:r>
            <a:r>
              <a:rPr kumimoji="0" lang="ko-KR" altLang="ko-KR" sz="2000" b="1" i="0" u="none" strike="noStrike" cap="none" normalizeH="0" baseline="0">
                <a:ln>
                  <a:noFill/>
                </a:ln>
                <a:solidFill>
                  <a:schemeClr val="tx1"/>
                </a:solidFill>
                <a:effectLst/>
                <a:latin typeface="Arial" panose="020B0604020202020204" pitchFamily="34" charset="0"/>
              </a:rPr>
              <a:t> </a:t>
            </a:r>
            <a:r>
              <a:rPr kumimoji="0" lang="ko-KR" altLang="ko-KR" sz="2000" b="1" i="0" u="none" strike="noStrike" cap="none" normalizeH="0" baseline="0">
                <a:ln>
                  <a:noFill/>
                </a:ln>
                <a:solidFill>
                  <a:schemeClr val="bg1">
                    <a:lumMod val="65000"/>
                  </a:schemeClr>
                </a:solidFill>
                <a:effectLst/>
                <a:latin typeface="Arial" panose="020B0604020202020204" pitchFamily="34" charset="0"/>
              </a:rPr>
              <a:t>(Week </a:t>
            </a:r>
            <a:r>
              <a:rPr kumimoji="0" lang="en-US" altLang="ko-KR" sz="2000" b="1" i="0" u="none" strike="noStrike" cap="none" normalizeH="0" baseline="0">
                <a:ln>
                  <a:noFill/>
                </a:ln>
                <a:solidFill>
                  <a:schemeClr val="bg1">
                    <a:lumMod val="65000"/>
                  </a:schemeClr>
                </a:solidFill>
                <a:effectLst/>
                <a:latin typeface="Arial" panose="020B0604020202020204" pitchFamily="34" charset="0"/>
              </a:rPr>
              <a:t>6</a:t>
            </a:r>
            <a:r>
              <a:rPr kumimoji="0" lang="ko-KR" altLang="ko-KR" sz="2000" b="1" i="0" u="none" strike="noStrike" cap="none" normalizeH="0" baseline="0">
                <a:ln>
                  <a:noFill/>
                </a:ln>
                <a:solidFill>
                  <a:schemeClr val="bg1">
                    <a:lumMod val="65000"/>
                  </a:schemeClr>
                </a:solidFill>
                <a:effectLst/>
                <a:latin typeface="Arial" panose="020B0604020202020204" pitchFamily="34" charset="0"/>
              </a:rPr>
              <a:t> </a:t>
            </a:r>
            <a:r>
              <a:rPr kumimoji="0" lang="en-US" altLang="ko-KR" sz="2000" b="1" i="0" u="none" strike="noStrike" cap="none" normalizeH="0" baseline="0">
                <a:ln>
                  <a:noFill/>
                </a:ln>
                <a:solidFill>
                  <a:schemeClr val="bg1">
                    <a:lumMod val="65000"/>
                  </a:schemeClr>
                </a:solidFill>
                <a:effectLst/>
                <a:latin typeface="Arial" panose="020B0604020202020204" pitchFamily="34" charset="0"/>
              </a:rPr>
              <a:t>New </a:t>
            </a:r>
            <a:r>
              <a:rPr kumimoji="0" lang="ko-KR" altLang="ko-KR" sz="2000" b="1" i="0" u="none" strike="noStrike" cap="none" normalizeH="0" baseline="0">
                <a:ln>
                  <a:noFill/>
                </a:ln>
                <a:solidFill>
                  <a:schemeClr val="bg1">
                    <a:lumMod val="65000"/>
                  </a:schemeClr>
                </a:solidFill>
                <a:effectLst/>
                <a:latin typeface="Arial" panose="020B0604020202020204" pitchFamily="34" charset="0"/>
              </a:rPr>
              <a:t>Knowledge)</a:t>
            </a:r>
            <a:endParaRPr kumimoji="0" lang="en-US" altLang="ko-KR" sz="2000" b="1" i="0" u="none" strike="noStrike" cap="none" normalizeH="0" baseline="0">
              <a:ln>
                <a:noFill/>
              </a:ln>
              <a:solidFill>
                <a:schemeClr val="bg1">
                  <a:lumMod val="6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800" b="1" i="0" u="none" strike="noStrike" cap="none" normalizeH="0" baseline="0">
                <a:ln>
                  <a:noFill/>
                </a:ln>
                <a:solidFill>
                  <a:schemeClr val="tx1"/>
                </a:solidFill>
                <a:effectLst/>
                <a:latin typeface="Arial" panose="020B0604020202020204" pitchFamily="34" charset="0"/>
              </a:rPr>
              <a:t>:</a:t>
            </a:r>
            <a:r>
              <a:rPr lang="en-US" altLang="ko-KR">
                <a:latin typeface="Arial" panose="020B0604020202020204" pitchFamily="34" charset="0"/>
              </a:rPr>
              <a:t> </a:t>
            </a:r>
            <a:r>
              <a:rPr kumimoji="0" lang="en-US" altLang="ko-KR" sz="1800" b="0" i="0" u="none" strike="noStrike" cap="none" normalizeH="0" baseline="0">
                <a:ln>
                  <a:noFill/>
                </a:ln>
                <a:solidFill>
                  <a:schemeClr val="tx1"/>
                </a:solidFill>
                <a:effectLst/>
                <a:latin typeface="Arial" panose="020B0604020202020204" pitchFamily="34" charset="0"/>
              </a:rPr>
              <a:t>What analytical method was employed to quantitatively analyze the contribution of environmental factors and spectral bands to the CNN-RF model's inversion?</a:t>
            </a:r>
            <a:endParaRPr kumimoji="0" lang="ko-KR" altLang="ko-KR" sz="1800" b="0" i="0" u="none" strike="noStrike" cap="none" normalizeH="0" baseline="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A1C5DCBC-CEF5-4414-BE62-3D17411BE519}"/>
              </a:ext>
            </a:extLst>
          </p:cNvPr>
          <p:cNvSpPr txBox="1"/>
          <p:nvPr/>
        </p:nvSpPr>
        <p:spPr>
          <a:xfrm>
            <a:off x="849600" y="5288254"/>
            <a:ext cx="10229023" cy="1107996"/>
          </a:xfrm>
          <a:prstGeom prst="rect">
            <a:avLst/>
          </a:prstGeom>
          <a:noFill/>
        </p:spPr>
        <p:txBody>
          <a:bodyPr wrap="square" rtlCol="0">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sz="2000" b="1" i="0" u="none" strike="noStrike" cap="none" normalizeH="0" baseline="0">
                <a:ln>
                  <a:noFill/>
                </a:ln>
                <a:solidFill>
                  <a:schemeClr val="tx1"/>
                </a:solidFill>
                <a:effectLst/>
                <a:latin typeface="Arial" panose="020B0604020202020204" pitchFamily="34" charset="0"/>
              </a:rPr>
              <a:t>Question </a:t>
            </a:r>
            <a:r>
              <a:rPr lang="en-US" altLang="ko-KR" sz="2000" b="1">
                <a:latin typeface="Arial" panose="020B0604020202020204" pitchFamily="34" charset="0"/>
              </a:rPr>
              <a:t>5</a:t>
            </a:r>
            <a:r>
              <a:rPr kumimoji="0" lang="ko-KR" altLang="ko-KR" sz="2000" b="1" i="0" u="none" strike="noStrike" cap="none" normalizeH="0" baseline="0">
                <a:ln>
                  <a:noFill/>
                </a:ln>
                <a:solidFill>
                  <a:schemeClr val="tx1"/>
                </a:solidFill>
                <a:effectLst/>
                <a:latin typeface="Arial" panose="020B0604020202020204" pitchFamily="34" charset="0"/>
              </a:rPr>
              <a:t> </a:t>
            </a:r>
            <a:r>
              <a:rPr kumimoji="0" lang="ko-KR" altLang="ko-KR" sz="2000" b="1" i="0" u="none" strike="noStrike" cap="none" normalizeH="0" baseline="0">
                <a:ln>
                  <a:noFill/>
                </a:ln>
                <a:solidFill>
                  <a:schemeClr val="bg1">
                    <a:lumMod val="65000"/>
                  </a:schemeClr>
                </a:solidFill>
                <a:effectLst/>
                <a:latin typeface="Arial" panose="020B0604020202020204" pitchFamily="34" charset="0"/>
              </a:rPr>
              <a:t>(</a:t>
            </a:r>
            <a:r>
              <a:rPr kumimoji="0" lang="en-US" altLang="ko-KR" sz="2000" b="1" i="0" u="none" strike="noStrike" cap="none" normalizeH="0" baseline="0">
                <a:ln>
                  <a:noFill/>
                </a:ln>
                <a:solidFill>
                  <a:schemeClr val="bg1">
                    <a:lumMod val="65000"/>
                  </a:schemeClr>
                </a:solidFill>
                <a:effectLst/>
                <a:latin typeface="Arial" panose="020B0604020202020204" pitchFamily="34" charset="0"/>
              </a:rPr>
              <a:t>New knowledge not found in the two training data</a:t>
            </a:r>
            <a:r>
              <a:rPr kumimoji="0" lang="ko-KR" altLang="ko-KR" sz="2000" b="1" i="0" u="none" strike="noStrike" cap="none" normalizeH="0" baseline="0">
                <a:ln>
                  <a:noFill/>
                </a:ln>
                <a:solidFill>
                  <a:schemeClr val="bg1">
                    <a:lumMod val="65000"/>
                  </a:schemeClr>
                </a:solidFill>
                <a:effectLst/>
                <a:latin typeface="Arial" panose="020B0604020202020204" pitchFamily="34" charset="0"/>
              </a:rPr>
              <a:t>)</a:t>
            </a:r>
            <a:endParaRPr kumimoji="0" lang="en-US" altLang="ko-KR" sz="2000" b="1" i="0" u="none" strike="noStrike" cap="none" normalizeH="0" baseline="0">
              <a:ln>
                <a:noFill/>
              </a:ln>
              <a:solidFill>
                <a:schemeClr val="bg1">
                  <a:lumMod val="6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800" b="1" i="0" u="none" strike="noStrike" cap="none" normalizeH="0" baseline="0">
                <a:ln>
                  <a:noFill/>
                </a:ln>
                <a:solidFill>
                  <a:schemeClr val="tx1"/>
                </a:solidFill>
                <a:effectLst/>
                <a:latin typeface="Arial" panose="020B0604020202020204" pitchFamily="34" charset="0"/>
              </a:rPr>
              <a:t>:</a:t>
            </a:r>
            <a:r>
              <a:rPr lang="en-US" altLang="ko-KR">
                <a:latin typeface="Arial" panose="020B0604020202020204" pitchFamily="34" charset="0"/>
              </a:rPr>
              <a:t> </a:t>
            </a:r>
            <a:r>
              <a:rPr kumimoji="0" lang="en-US" altLang="ko-KR" sz="1800" b="0" i="0" u="none" strike="noStrike" cap="none" normalizeH="0" baseline="0">
                <a:ln>
                  <a:noFill/>
                </a:ln>
                <a:solidFill>
                  <a:schemeClr val="tx1"/>
                </a:solidFill>
                <a:effectLst/>
                <a:latin typeface="Arial" panose="020B0604020202020204" pitchFamily="34" charset="0"/>
              </a:rPr>
              <a:t>How can deep learning models improve water-quality monitoring accuracy in rivers affected by seasonal changes (e.g., rainy seasons)?</a:t>
            </a:r>
            <a:endParaRPr kumimoji="0" lang="ko-KR" altLang="ko-KR"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41786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CE4AA1C-CBE1-43D7-B507-0065504A086E}"/>
              </a:ext>
            </a:extLst>
          </p:cNvPr>
          <p:cNvSpPr txBox="1"/>
          <p:nvPr/>
        </p:nvSpPr>
        <p:spPr>
          <a:xfrm>
            <a:off x="311072" y="321725"/>
            <a:ext cx="10229023" cy="954107"/>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tabLst/>
            </a:pPr>
            <a:r>
              <a:rPr kumimoji="0" lang="ko-KR" altLang="ko-KR" sz="2000" b="1" i="0" u="none" strike="noStrike" cap="none" normalizeH="0" baseline="0">
                <a:ln>
                  <a:noFill/>
                </a:ln>
                <a:solidFill>
                  <a:schemeClr val="tx1"/>
                </a:solidFill>
                <a:effectLst/>
                <a:latin typeface="Arial" panose="020B0604020202020204" pitchFamily="34" charset="0"/>
              </a:rPr>
              <a:t>Question 1 </a:t>
            </a:r>
            <a:r>
              <a:rPr kumimoji="0" lang="ko-KR" altLang="ko-KR" sz="2000" b="1" i="0" u="none" strike="noStrike" cap="none" normalizeH="0" baseline="0">
                <a:ln>
                  <a:noFill/>
                </a:ln>
                <a:solidFill>
                  <a:schemeClr val="bg1">
                    <a:lumMod val="65000"/>
                  </a:schemeClr>
                </a:solidFill>
                <a:effectLst/>
                <a:latin typeface="Arial" panose="020B0604020202020204" pitchFamily="34" charset="0"/>
              </a:rPr>
              <a:t>(Week 5 Knowledge)</a:t>
            </a:r>
            <a:endParaRPr kumimoji="0" lang="en-US" altLang="ko-KR" sz="2000" b="1" i="0" u="none" strike="noStrike" cap="none" normalizeH="0" baseline="0">
              <a:ln>
                <a:noFill/>
              </a:ln>
              <a:solidFill>
                <a:schemeClr val="bg1">
                  <a:lumMod val="6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ko-KR" altLang="ko-KR" b="1" i="0" u="none" strike="noStrike" cap="none" normalizeH="0" baseline="0">
                <a:ln>
                  <a:noFill/>
                </a:ln>
                <a:solidFill>
                  <a:schemeClr val="tx1"/>
                </a:solidFill>
                <a:effectLst/>
                <a:latin typeface="Arial" panose="020B0604020202020204" pitchFamily="34" charset="0"/>
              </a:rPr>
              <a:t>:</a:t>
            </a:r>
            <a:r>
              <a:rPr kumimoji="0" lang="en-US" altLang="ko-KR" b="1" i="0" u="none" strike="noStrike" cap="none" normalizeH="0" baseline="0">
                <a:ln>
                  <a:noFill/>
                </a:ln>
                <a:solidFill>
                  <a:schemeClr val="tx1"/>
                </a:solidFill>
                <a:effectLst/>
                <a:latin typeface="Arial" panose="020B0604020202020204" pitchFamily="34" charset="0"/>
              </a:rPr>
              <a:t> </a:t>
            </a:r>
            <a:r>
              <a:rPr kumimoji="0" lang="ko-KR" altLang="ko-KR" b="0" i="0" u="none" strike="noStrike" cap="none" normalizeH="0" baseline="0">
                <a:ln>
                  <a:noFill/>
                </a:ln>
                <a:solidFill>
                  <a:schemeClr val="tx1"/>
                </a:solidFill>
                <a:effectLst/>
                <a:latin typeface="Arial" panose="020B0604020202020204" pitchFamily="34" charset="0"/>
              </a:rPr>
              <a:t>Why do the authors propose geographically adaptive models (regional/local) instead of a single global regression for Chl-a retrieval in inland waters?</a:t>
            </a:r>
            <a:endParaRPr kumimoji="0" lang="en-US" altLang="ko-KR" b="0" i="0" u="none" strike="noStrike" cap="none" normalizeH="0" baseline="0">
              <a:ln>
                <a:noFill/>
              </a:ln>
              <a:solidFill>
                <a:schemeClr val="tx1"/>
              </a:solidFill>
              <a:effectLst/>
              <a:latin typeface="Arial" panose="020B0604020202020204" pitchFamily="34" charset="0"/>
            </a:endParaRPr>
          </a:p>
        </p:txBody>
      </p:sp>
      <p:pic>
        <p:nvPicPr>
          <p:cNvPr id="4" name="그림 3">
            <a:extLst>
              <a:ext uri="{FF2B5EF4-FFF2-40B4-BE49-F238E27FC236}">
                <a16:creationId xmlns:a16="http://schemas.microsoft.com/office/drawing/2014/main" id="{5859176C-CCFF-4331-8255-B0B91CC16FE7}"/>
              </a:ext>
            </a:extLst>
          </p:cNvPr>
          <p:cNvPicPr>
            <a:picLocks noChangeAspect="1"/>
          </p:cNvPicPr>
          <p:nvPr/>
        </p:nvPicPr>
        <p:blipFill>
          <a:blip r:embed="rId2"/>
          <a:stretch>
            <a:fillRect/>
          </a:stretch>
        </p:blipFill>
        <p:spPr>
          <a:xfrm>
            <a:off x="552334" y="1472900"/>
            <a:ext cx="4995612" cy="3748308"/>
          </a:xfrm>
          <a:prstGeom prst="rect">
            <a:avLst/>
          </a:prstGeom>
        </p:spPr>
      </p:pic>
      <p:sp>
        <p:nvSpPr>
          <p:cNvPr id="5" name="TextBox 4">
            <a:extLst>
              <a:ext uri="{FF2B5EF4-FFF2-40B4-BE49-F238E27FC236}">
                <a16:creationId xmlns:a16="http://schemas.microsoft.com/office/drawing/2014/main" id="{DA9EBF53-0E97-4DD3-9EA6-C88632FC1B69}"/>
              </a:ext>
            </a:extLst>
          </p:cNvPr>
          <p:cNvSpPr txBox="1"/>
          <p:nvPr/>
        </p:nvSpPr>
        <p:spPr>
          <a:xfrm>
            <a:off x="2151381" y="5267214"/>
            <a:ext cx="1797517" cy="369332"/>
          </a:xfrm>
          <a:prstGeom prst="rect">
            <a:avLst/>
          </a:prstGeom>
          <a:noFill/>
        </p:spPr>
        <p:txBody>
          <a:bodyPr wrap="square" rtlCol="0">
            <a:spAutoFit/>
          </a:bodyPr>
          <a:lstStyle/>
          <a:p>
            <a:r>
              <a:rPr lang="en-US" altLang="ko-KR"/>
              <a:t>week5_lora_v01</a:t>
            </a:r>
            <a:endParaRPr lang="ko-KR" altLang="en-US"/>
          </a:p>
        </p:txBody>
      </p:sp>
      <p:sp>
        <p:nvSpPr>
          <p:cNvPr id="8" name="TextBox 7">
            <a:extLst>
              <a:ext uri="{FF2B5EF4-FFF2-40B4-BE49-F238E27FC236}">
                <a16:creationId xmlns:a16="http://schemas.microsoft.com/office/drawing/2014/main" id="{BC83B46F-2703-4759-AE30-939E9A1A0629}"/>
              </a:ext>
            </a:extLst>
          </p:cNvPr>
          <p:cNvSpPr txBox="1"/>
          <p:nvPr/>
        </p:nvSpPr>
        <p:spPr>
          <a:xfrm>
            <a:off x="8155839" y="5267214"/>
            <a:ext cx="1797517" cy="369332"/>
          </a:xfrm>
          <a:prstGeom prst="rect">
            <a:avLst/>
          </a:prstGeom>
          <a:noFill/>
        </p:spPr>
        <p:txBody>
          <a:bodyPr wrap="square" rtlCol="0">
            <a:spAutoFit/>
          </a:bodyPr>
          <a:lstStyle/>
          <a:p>
            <a:r>
              <a:rPr lang="en-US" altLang="ko-KR"/>
              <a:t>week6_lora_v02</a:t>
            </a:r>
            <a:endParaRPr lang="ko-KR" altLang="en-US"/>
          </a:p>
        </p:txBody>
      </p:sp>
      <p:pic>
        <p:nvPicPr>
          <p:cNvPr id="6" name="그림 5">
            <a:extLst>
              <a:ext uri="{FF2B5EF4-FFF2-40B4-BE49-F238E27FC236}">
                <a16:creationId xmlns:a16="http://schemas.microsoft.com/office/drawing/2014/main" id="{7998C338-487D-481A-BA9A-6B3DFC3D139D}"/>
              </a:ext>
            </a:extLst>
          </p:cNvPr>
          <p:cNvPicPr>
            <a:picLocks noChangeAspect="1"/>
          </p:cNvPicPr>
          <p:nvPr/>
        </p:nvPicPr>
        <p:blipFill>
          <a:blip r:embed="rId3"/>
          <a:stretch>
            <a:fillRect/>
          </a:stretch>
        </p:blipFill>
        <p:spPr>
          <a:xfrm>
            <a:off x="6254645" y="1735903"/>
            <a:ext cx="5599906" cy="3461386"/>
          </a:xfrm>
          <a:prstGeom prst="rect">
            <a:avLst/>
          </a:prstGeom>
        </p:spPr>
      </p:pic>
      <p:sp>
        <p:nvSpPr>
          <p:cNvPr id="9" name="직사각형 8">
            <a:extLst>
              <a:ext uri="{FF2B5EF4-FFF2-40B4-BE49-F238E27FC236}">
                <a16:creationId xmlns:a16="http://schemas.microsoft.com/office/drawing/2014/main" id="{7F3DEBB1-730D-4D73-9BA2-7529DF6E2189}"/>
              </a:ext>
            </a:extLst>
          </p:cNvPr>
          <p:cNvSpPr/>
          <p:nvPr/>
        </p:nvSpPr>
        <p:spPr>
          <a:xfrm>
            <a:off x="418498" y="5895329"/>
            <a:ext cx="11436054" cy="68883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a:extLst>
              <a:ext uri="{FF2B5EF4-FFF2-40B4-BE49-F238E27FC236}">
                <a16:creationId xmlns:a16="http://schemas.microsoft.com/office/drawing/2014/main" id="{379764F6-F0E3-4258-830E-9A886543417B}"/>
              </a:ext>
            </a:extLst>
          </p:cNvPr>
          <p:cNvSpPr txBox="1"/>
          <p:nvPr/>
        </p:nvSpPr>
        <p:spPr>
          <a:xfrm>
            <a:off x="498904" y="5947358"/>
            <a:ext cx="11355647" cy="584775"/>
          </a:xfrm>
          <a:prstGeom prst="rect">
            <a:avLst/>
          </a:prstGeom>
          <a:noFill/>
        </p:spPr>
        <p:txBody>
          <a:bodyPr wrap="square" rtlCol="0">
            <a:spAutoFit/>
          </a:bodyPr>
          <a:lstStyle/>
          <a:p>
            <a:r>
              <a:rPr lang="en-US" altLang="ko-KR" sz="1600" b="1"/>
              <a:t>Both</a:t>
            </a:r>
            <a:r>
              <a:rPr lang="en-US" altLang="ko-KR" sz="1600"/>
              <a:t> answers are well-reasoned and well-founded, but </a:t>
            </a:r>
            <a:r>
              <a:rPr lang="en-US" altLang="ko-KR" sz="1600" b="1"/>
              <a:t>Week6_lora_v02 model </a:t>
            </a:r>
            <a:r>
              <a:rPr lang="en-US" altLang="ko-KR" sz="1600"/>
              <a:t>is more systematic and clearly explains the specific evidence/experimental reasons.</a:t>
            </a:r>
            <a:endParaRPr lang="ko-KR" altLang="en-US" sz="1600"/>
          </a:p>
        </p:txBody>
      </p:sp>
    </p:spTree>
    <p:extLst>
      <p:ext uri="{BB962C8B-B14F-4D97-AF65-F5344CB8AC3E}">
        <p14:creationId xmlns:p14="http://schemas.microsoft.com/office/powerpoint/2010/main" val="36406857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838ECE-8325-45C5-BF75-5E51EB5D495F}"/>
              </a:ext>
            </a:extLst>
          </p:cNvPr>
          <p:cNvSpPr txBox="1"/>
          <p:nvPr/>
        </p:nvSpPr>
        <p:spPr>
          <a:xfrm>
            <a:off x="427651" y="193432"/>
            <a:ext cx="10229023" cy="954107"/>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tabLst/>
            </a:pPr>
            <a:r>
              <a:rPr kumimoji="0" lang="ko-KR" altLang="ko-KR" sz="2000" b="1" i="0" u="none" strike="noStrike" cap="none" normalizeH="0" baseline="0">
                <a:ln>
                  <a:noFill/>
                </a:ln>
                <a:solidFill>
                  <a:schemeClr val="tx1"/>
                </a:solidFill>
                <a:effectLst/>
                <a:latin typeface="Arial" panose="020B0604020202020204" pitchFamily="34" charset="0"/>
              </a:rPr>
              <a:t>Question 2 </a:t>
            </a:r>
            <a:r>
              <a:rPr kumimoji="0" lang="ko-KR" altLang="ko-KR" sz="2000" b="1" i="0" u="none" strike="noStrike" cap="none" normalizeH="0" baseline="0">
                <a:ln>
                  <a:noFill/>
                </a:ln>
                <a:solidFill>
                  <a:schemeClr val="bg1">
                    <a:lumMod val="65000"/>
                  </a:schemeClr>
                </a:solidFill>
                <a:effectLst/>
                <a:latin typeface="Arial" panose="020B0604020202020204" pitchFamily="34" charset="0"/>
              </a:rPr>
              <a:t>(Week 5 Knowledge)</a:t>
            </a:r>
            <a:endParaRPr kumimoji="0" lang="en-US" altLang="ko-KR" sz="2000" b="1" i="0" u="none" strike="noStrike" cap="none" normalizeH="0" baseline="0">
              <a:ln>
                <a:noFill/>
              </a:ln>
              <a:solidFill>
                <a:schemeClr val="bg1">
                  <a:lumMod val="6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b="1" i="0" u="none" strike="noStrike" cap="none" normalizeH="0" baseline="0">
                <a:ln>
                  <a:noFill/>
                </a:ln>
                <a:solidFill>
                  <a:schemeClr val="tx1"/>
                </a:solidFill>
                <a:effectLst/>
                <a:latin typeface="Arial" panose="020B0604020202020204" pitchFamily="34" charset="0"/>
              </a:rPr>
              <a:t>:</a:t>
            </a:r>
            <a:r>
              <a:rPr lang="en-US" altLang="ko-KR">
                <a:latin typeface="Arial" panose="020B0604020202020204" pitchFamily="34" charset="0"/>
              </a:rPr>
              <a:t> </a:t>
            </a:r>
            <a:r>
              <a:rPr kumimoji="0" lang="ko-KR" altLang="ko-KR" b="0" i="0" u="none" strike="noStrike" cap="none" normalizeH="0" baseline="0">
                <a:ln>
                  <a:noFill/>
                </a:ln>
                <a:solidFill>
                  <a:schemeClr val="tx1"/>
                </a:solidFill>
                <a:effectLst/>
                <a:latin typeface="Arial" panose="020B0604020202020204" pitchFamily="34" charset="0"/>
              </a:rPr>
              <a:t>Which atmospheric correction methods performed best for Sentinel-2A and for the airborne hyperspectral imagery, and what geolocation accuracies (RMSE) were achieved?</a:t>
            </a:r>
          </a:p>
        </p:txBody>
      </p:sp>
      <p:pic>
        <p:nvPicPr>
          <p:cNvPr id="4" name="그림 3">
            <a:extLst>
              <a:ext uri="{FF2B5EF4-FFF2-40B4-BE49-F238E27FC236}">
                <a16:creationId xmlns:a16="http://schemas.microsoft.com/office/drawing/2014/main" id="{CAD10CF5-EA64-4F2C-B84B-A97BC1EECE36}"/>
              </a:ext>
            </a:extLst>
          </p:cNvPr>
          <p:cNvPicPr>
            <a:picLocks noChangeAspect="1"/>
          </p:cNvPicPr>
          <p:nvPr/>
        </p:nvPicPr>
        <p:blipFill>
          <a:blip r:embed="rId2"/>
          <a:stretch>
            <a:fillRect/>
          </a:stretch>
        </p:blipFill>
        <p:spPr>
          <a:xfrm>
            <a:off x="251806" y="1316950"/>
            <a:ext cx="5642134" cy="3152738"/>
          </a:xfrm>
          <a:prstGeom prst="rect">
            <a:avLst/>
          </a:prstGeom>
        </p:spPr>
      </p:pic>
      <p:sp>
        <p:nvSpPr>
          <p:cNvPr id="5" name="TextBox 4">
            <a:extLst>
              <a:ext uri="{FF2B5EF4-FFF2-40B4-BE49-F238E27FC236}">
                <a16:creationId xmlns:a16="http://schemas.microsoft.com/office/drawing/2014/main" id="{C0CC6E56-1AEE-4C2E-8C78-1056FDA5DB56}"/>
              </a:ext>
            </a:extLst>
          </p:cNvPr>
          <p:cNvSpPr txBox="1"/>
          <p:nvPr/>
        </p:nvSpPr>
        <p:spPr>
          <a:xfrm>
            <a:off x="2120910" y="4521718"/>
            <a:ext cx="1797517" cy="369332"/>
          </a:xfrm>
          <a:prstGeom prst="rect">
            <a:avLst/>
          </a:prstGeom>
          <a:noFill/>
        </p:spPr>
        <p:txBody>
          <a:bodyPr wrap="square" rtlCol="0">
            <a:spAutoFit/>
          </a:bodyPr>
          <a:lstStyle/>
          <a:p>
            <a:r>
              <a:rPr lang="en-US" altLang="ko-KR"/>
              <a:t>week5_lora_v01</a:t>
            </a:r>
            <a:endParaRPr lang="ko-KR" altLang="en-US"/>
          </a:p>
        </p:txBody>
      </p:sp>
      <p:sp>
        <p:nvSpPr>
          <p:cNvPr id="8" name="TextBox 7">
            <a:extLst>
              <a:ext uri="{FF2B5EF4-FFF2-40B4-BE49-F238E27FC236}">
                <a16:creationId xmlns:a16="http://schemas.microsoft.com/office/drawing/2014/main" id="{B488D58F-E076-4239-AFD3-C808AA10DCBC}"/>
              </a:ext>
            </a:extLst>
          </p:cNvPr>
          <p:cNvSpPr txBox="1"/>
          <p:nvPr/>
        </p:nvSpPr>
        <p:spPr>
          <a:xfrm>
            <a:off x="8273575" y="4521718"/>
            <a:ext cx="1797517" cy="369332"/>
          </a:xfrm>
          <a:prstGeom prst="rect">
            <a:avLst/>
          </a:prstGeom>
          <a:noFill/>
        </p:spPr>
        <p:txBody>
          <a:bodyPr wrap="square" rtlCol="0">
            <a:spAutoFit/>
          </a:bodyPr>
          <a:lstStyle/>
          <a:p>
            <a:r>
              <a:rPr lang="en-US" altLang="ko-KR"/>
              <a:t>week6_lora_v02</a:t>
            </a:r>
            <a:endParaRPr lang="ko-KR" altLang="en-US"/>
          </a:p>
        </p:txBody>
      </p:sp>
      <p:pic>
        <p:nvPicPr>
          <p:cNvPr id="6" name="그림 5">
            <a:extLst>
              <a:ext uri="{FF2B5EF4-FFF2-40B4-BE49-F238E27FC236}">
                <a16:creationId xmlns:a16="http://schemas.microsoft.com/office/drawing/2014/main" id="{2E188DDC-4955-4410-B351-066B6739B735}"/>
              </a:ext>
            </a:extLst>
          </p:cNvPr>
          <p:cNvPicPr>
            <a:picLocks noChangeAspect="1"/>
          </p:cNvPicPr>
          <p:nvPr/>
        </p:nvPicPr>
        <p:blipFill>
          <a:blip r:embed="rId3"/>
          <a:stretch>
            <a:fillRect/>
          </a:stretch>
        </p:blipFill>
        <p:spPr>
          <a:xfrm>
            <a:off x="6096000" y="1316950"/>
            <a:ext cx="5785950" cy="3152738"/>
          </a:xfrm>
          <a:prstGeom prst="rect">
            <a:avLst/>
          </a:prstGeom>
        </p:spPr>
      </p:pic>
      <p:sp>
        <p:nvSpPr>
          <p:cNvPr id="9" name="직사각형 8">
            <a:extLst>
              <a:ext uri="{FF2B5EF4-FFF2-40B4-BE49-F238E27FC236}">
                <a16:creationId xmlns:a16="http://schemas.microsoft.com/office/drawing/2014/main" id="{E3D3A4E1-A573-46D8-B620-5F92437374F9}"/>
              </a:ext>
            </a:extLst>
          </p:cNvPr>
          <p:cNvSpPr/>
          <p:nvPr/>
        </p:nvSpPr>
        <p:spPr>
          <a:xfrm>
            <a:off x="251806" y="5060461"/>
            <a:ext cx="11630144" cy="162169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a:extLst>
              <a:ext uri="{FF2B5EF4-FFF2-40B4-BE49-F238E27FC236}">
                <a16:creationId xmlns:a16="http://schemas.microsoft.com/office/drawing/2014/main" id="{13419579-E2BD-4B4C-A8FF-CF0E6571EA60}"/>
              </a:ext>
            </a:extLst>
          </p:cNvPr>
          <p:cNvSpPr txBox="1"/>
          <p:nvPr/>
        </p:nvSpPr>
        <p:spPr>
          <a:xfrm>
            <a:off x="332213" y="5112490"/>
            <a:ext cx="11291218" cy="1569660"/>
          </a:xfrm>
          <a:prstGeom prst="rect">
            <a:avLst/>
          </a:prstGeom>
          <a:noFill/>
        </p:spPr>
        <p:txBody>
          <a:bodyPr wrap="square" rtlCol="0">
            <a:spAutoFit/>
          </a:bodyPr>
          <a:lstStyle/>
          <a:p>
            <a:r>
              <a:rPr lang="en-US" altLang="ko-KR" sz="1600"/>
              <a:t>While </a:t>
            </a:r>
            <a:r>
              <a:rPr lang="en-US" altLang="ko-KR" sz="1600" b="1"/>
              <a:t>both models</a:t>
            </a:r>
            <a:r>
              <a:rPr lang="en-US" altLang="ko-KR" sz="1600"/>
              <a:t> demonstrated core accuracy and the superiority of the primary method (ACOLITE), week6_lora_v02</a:t>
            </a:r>
            <a:r>
              <a:rPr lang="ko-KR" altLang="en-US" sz="1600"/>
              <a:t> </a:t>
            </a:r>
            <a:r>
              <a:rPr lang="en-US" altLang="ko-KR" sz="1600"/>
              <a:t>model's response was more paper-specific and provided richer context, including comparisons with actual field measurements. It also systematically described the evaluation methods and results, including units (mg/L) and the root mean square error (RMSE).</a:t>
            </a:r>
          </a:p>
          <a:p>
            <a:r>
              <a:rPr lang="en-US" altLang="ko-KR" sz="1600"/>
              <a:t>Comparing the practice and report, </a:t>
            </a:r>
            <a:r>
              <a:rPr lang="en-US" altLang="ko-KR" sz="1600" b="1"/>
              <a:t>Week6_lora_v02 model</a:t>
            </a:r>
            <a:r>
              <a:rPr lang="en-US" altLang="ko-KR" sz="1600"/>
              <a:t> was found to be more domain-appropriate and its explanations were more logical and informative.</a:t>
            </a:r>
            <a:endParaRPr lang="ko-KR" altLang="en-US" sz="1600"/>
          </a:p>
        </p:txBody>
      </p:sp>
    </p:spTree>
    <p:extLst>
      <p:ext uri="{BB962C8B-B14F-4D97-AF65-F5344CB8AC3E}">
        <p14:creationId xmlns:p14="http://schemas.microsoft.com/office/powerpoint/2010/main" val="3069285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01B5C8-E408-4F33-AD67-3DFDE6176060}"/>
              </a:ext>
            </a:extLst>
          </p:cNvPr>
          <p:cNvSpPr txBox="1"/>
          <p:nvPr/>
        </p:nvSpPr>
        <p:spPr>
          <a:xfrm>
            <a:off x="442223" y="172635"/>
            <a:ext cx="10229023" cy="954107"/>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tabLst/>
            </a:pPr>
            <a:r>
              <a:rPr kumimoji="0" lang="ko-KR" altLang="ko-KR" sz="2000" b="1" i="0" u="none" strike="noStrike" cap="none" normalizeH="0" baseline="0">
                <a:ln>
                  <a:noFill/>
                </a:ln>
                <a:solidFill>
                  <a:schemeClr val="tx1"/>
                </a:solidFill>
                <a:effectLst/>
                <a:latin typeface="Arial" panose="020B0604020202020204" pitchFamily="34" charset="0"/>
              </a:rPr>
              <a:t>Question </a:t>
            </a:r>
            <a:r>
              <a:rPr kumimoji="0" lang="en-US" altLang="ko-KR" sz="2000" b="1" i="0" u="none" strike="noStrike" cap="none" normalizeH="0" baseline="0">
                <a:ln>
                  <a:noFill/>
                </a:ln>
                <a:solidFill>
                  <a:schemeClr val="tx1"/>
                </a:solidFill>
                <a:effectLst/>
                <a:latin typeface="Arial" panose="020B0604020202020204" pitchFamily="34" charset="0"/>
              </a:rPr>
              <a:t>3</a:t>
            </a:r>
            <a:r>
              <a:rPr kumimoji="0" lang="ko-KR" altLang="ko-KR" sz="2000" b="1" i="0" u="none" strike="noStrike" cap="none" normalizeH="0" baseline="0">
                <a:ln>
                  <a:noFill/>
                </a:ln>
                <a:solidFill>
                  <a:schemeClr val="tx1"/>
                </a:solidFill>
                <a:effectLst/>
                <a:latin typeface="Arial" panose="020B0604020202020204" pitchFamily="34" charset="0"/>
              </a:rPr>
              <a:t> </a:t>
            </a:r>
            <a:r>
              <a:rPr kumimoji="0" lang="ko-KR" altLang="ko-KR" sz="2000" b="1" i="0" u="none" strike="noStrike" cap="none" normalizeH="0" baseline="0">
                <a:ln>
                  <a:noFill/>
                </a:ln>
                <a:solidFill>
                  <a:schemeClr val="bg1">
                    <a:lumMod val="65000"/>
                  </a:schemeClr>
                </a:solidFill>
                <a:effectLst/>
                <a:latin typeface="Arial" panose="020B0604020202020204" pitchFamily="34" charset="0"/>
              </a:rPr>
              <a:t>(Week </a:t>
            </a:r>
            <a:r>
              <a:rPr kumimoji="0" lang="en-US" altLang="ko-KR" sz="2000" b="1" i="0" u="none" strike="noStrike" cap="none" normalizeH="0" baseline="0">
                <a:ln>
                  <a:noFill/>
                </a:ln>
                <a:solidFill>
                  <a:schemeClr val="bg1">
                    <a:lumMod val="65000"/>
                  </a:schemeClr>
                </a:solidFill>
                <a:effectLst/>
                <a:latin typeface="Arial" panose="020B0604020202020204" pitchFamily="34" charset="0"/>
              </a:rPr>
              <a:t>6</a:t>
            </a:r>
            <a:r>
              <a:rPr kumimoji="0" lang="ko-KR" altLang="ko-KR" sz="2000" b="1" i="0" u="none" strike="noStrike" cap="none" normalizeH="0" baseline="0">
                <a:ln>
                  <a:noFill/>
                </a:ln>
                <a:solidFill>
                  <a:schemeClr val="bg1">
                    <a:lumMod val="65000"/>
                  </a:schemeClr>
                </a:solidFill>
                <a:effectLst/>
                <a:latin typeface="Arial" panose="020B0604020202020204" pitchFamily="34" charset="0"/>
              </a:rPr>
              <a:t> </a:t>
            </a:r>
            <a:r>
              <a:rPr kumimoji="0" lang="en-US" altLang="ko-KR" sz="2000" b="1" i="0" u="none" strike="noStrike" cap="none" normalizeH="0" baseline="0">
                <a:ln>
                  <a:noFill/>
                </a:ln>
                <a:solidFill>
                  <a:schemeClr val="bg1">
                    <a:lumMod val="65000"/>
                  </a:schemeClr>
                </a:solidFill>
                <a:effectLst/>
                <a:latin typeface="Arial" panose="020B0604020202020204" pitchFamily="34" charset="0"/>
              </a:rPr>
              <a:t>New </a:t>
            </a:r>
            <a:r>
              <a:rPr kumimoji="0" lang="ko-KR" altLang="ko-KR" sz="2000" b="1" i="0" u="none" strike="noStrike" cap="none" normalizeH="0" baseline="0">
                <a:ln>
                  <a:noFill/>
                </a:ln>
                <a:solidFill>
                  <a:schemeClr val="bg1">
                    <a:lumMod val="65000"/>
                  </a:schemeClr>
                </a:solidFill>
                <a:effectLst/>
                <a:latin typeface="Arial" panose="020B0604020202020204" pitchFamily="34" charset="0"/>
              </a:rPr>
              <a:t>Knowledge)</a:t>
            </a:r>
            <a:endParaRPr kumimoji="0" lang="en-US" altLang="ko-KR" sz="2000" b="1" i="0" u="none" strike="noStrike" cap="none" normalizeH="0" baseline="0">
              <a:ln>
                <a:noFill/>
              </a:ln>
              <a:solidFill>
                <a:schemeClr val="bg1">
                  <a:lumMod val="6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ko-KR" altLang="ko-KR" sz="1800" b="1" i="0" u="none" strike="noStrike" cap="none" normalizeH="0" baseline="0">
                <a:ln>
                  <a:noFill/>
                </a:ln>
                <a:solidFill>
                  <a:schemeClr val="tx1"/>
                </a:solidFill>
                <a:effectLst/>
                <a:latin typeface="Arial" panose="020B0604020202020204" pitchFamily="34" charset="0"/>
              </a:rPr>
              <a:t>:</a:t>
            </a:r>
            <a:r>
              <a:rPr kumimoji="0" lang="en-US" altLang="ko-KR" sz="1800" b="1" i="0" u="none" strike="noStrike" cap="none" normalizeH="0" baseline="0">
                <a:ln>
                  <a:noFill/>
                </a:ln>
                <a:solidFill>
                  <a:schemeClr val="tx1"/>
                </a:solidFill>
                <a:effectLst/>
                <a:latin typeface="Arial" panose="020B0604020202020204" pitchFamily="34" charset="0"/>
              </a:rPr>
              <a:t> </a:t>
            </a:r>
            <a:r>
              <a:rPr kumimoji="0" lang="en-US" altLang="ko-KR" sz="1800" i="0" u="none" strike="noStrike" cap="none" normalizeH="0" baseline="0">
                <a:ln>
                  <a:noFill/>
                </a:ln>
                <a:solidFill>
                  <a:schemeClr val="tx1"/>
                </a:solidFill>
                <a:effectLst/>
                <a:latin typeface="Arial" panose="020B0604020202020204" pitchFamily="34" charset="0"/>
              </a:rPr>
              <a:t>What is the advantage of the CNN-RF hybrid model for water quality monitoring, and how much did the R² values for TP, DO, and COD increase when environmental factors were included?</a:t>
            </a:r>
          </a:p>
        </p:txBody>
      </p:sp>
      <p:pic>
        <p:nvPicPr>
          <p:cNvPr id="4" name="그림 3">
            <a:extLst>
              <a:ext uri="{FF2B5EF4-FFF2-40B4-BE49-F238E27FC236}">
                <a16:creationId xmlns:a16="http://schemas.microsoft.com/office/drawing/2014/main" id="{BA751B24-2BE8-4613-9FD9-020F7935C418}"/>
              </a:ext>
            </a:extLst>
          </p:cNvPr>
          <p:cNvPicPr>
            <a:picLocks noChangeAspect="1"/>
          </p:cNvPicPr>
          <p:nvPr/>
        </p:nvPicPr>
        <p:blipFill>
          <a:blip r:embed="rId2"/>
          <a:stretch>
            <a:fillRect/>
          </a:stretch>
        </p:blipFill>
        <p:spPr>
          <a:xfrm>
            <a:off x="1096084" y="1269040"/>
            <a:ext cx="3540418" cy="3807193"/>
          </a:xfrm>
          <a:prstGeom prst="rect">
            <a:avLst/>
          </a:prstGeom>
        </p:spPr>
      </p:pic>
      <p:sp>
        <p:nvSpPr>
          <p:cNvPr id="7" name="TextBox 6">
            <a:extLst>
              <a:ext uri="{FF2B5EF4-FFF2-40B4-BE49-F238E27FC236}">
                <a16:creationId xmlns:a16="http://schemas.microsoft.com/office/drawing/2014/main" id="{6A213DFA-D437-4E06-83CF-EAAF42B80904}"/>
              </a:ext>
            </a:extLst>
          </p:cNvPr>
          <p:cNvSpPr txBox="1"/>
          <p:nvPr/>
        </p:nvSpPr>
        <p:spPr>
          <a:xfrm>
            <a:off x="1885448" y="5076233"/>
            <a:ext cx="1797517" cy="369332"/>
          </a:xfrm>
          <a:prstGeom prst="rect">
            <a:avLst/>
          </a:prstGeom>
          <a:noFill/>
        </p:spPr>
        <p:txBody>
          <a:bodyPr wrap="square" rtlCol="0">
            <a:spAutoFit/>
          </a:bodyPr>
          <a:lstStyle/>
          <a:p>
            <a:r>
              <a:rPr lang="en-US" altLang="ko-KR"/>
              <a:t>week5_lora_v01</a:t>
            </a:r>
            <a:endParaRPr lang="ko-KR" altLang="en-US"/>
          </a:p>
        </p:txBody>
      </p:sp>
      <p:sp>
        <p:nvSpPr>
          <p:cNvPr id="8" name="직사각형 7">
            <a:extLst>
              <a:ext uri="{FF2B5EF4-FFF2-40B4-BE49-F238E27FC236}">
                <a16:creationId xmlns:a16="http://schemas.microsoft.com/office/drawing/2014/main" id="{F978D062-C456-4265-976D-3990D92E662D}"/>
              </a:ext>
            </a:extLst>
          </p:cNvPr>
          <p:cNvSpPr/>
          <p:nvPr/>
        </p:nvSpPr>
        <p:spPr>
          <a:xfrm>
            <a:off x="1820009" y="3171118"/>
            <a:ext cx="2092569" cy="646331"/>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TextBox 8">
            <a:extLst>
              <a:ext uri="{FF2B5EF4-FFF2-40B4-BE49-F238E27FC236}">
                <a16:creationId xmlns:a16="http://schemas.microsoft.com/office/drawing/2014/main" id="{9DD63CFC-82C7-40FF-B38F-033A094391F6}"/>
              </a:ext>
            </a:extLst>
          </p:cNvPr>
          <p:cNvSpPr txBox="1"/>
          <p:nvPr/>
        </p:nvSpPr>
        <p:spPr>
          <a:xfrm>
            <a:off x="1820009" y="3171118"/>
            <a:ext cx="2092569" cy="646331"/>
          </a:xfrm>
          <a:prstGeom prst="rect">
            <a:avLst/>
          </a:prstGeom>
          <a:noFill/>
        </p:spPr>
        <p:txBody>
          <a:bodyPr wrap="square" rtlCol="0">
            <a:spAutoFit/>
          </a:bodyPr>
          <a:lstStyle/>
          <a:p>
            <a:r>
              <a:rPr lang="en-US" altLang="ko-KR"/>
              <a:t>Factural</a:t>
            </a:r>
            <a:r>
              <a:rPr lang="ko-KR" altLang="en-US"/>
              <a:t> </a:t>
            </a:r>
            <a:r>
              <a:rPr lang="en-US" altLang="ko-KR"/>
              <a:t>Error</a:t>
            </a:r>
            <a:r>
              <a:rPr lang="ko-KR" altLang="en-US"/>
              <a:t> </a:t>
            </a:r>
            <a:r>
              <a:rPr lang="en-US" altLang="ko-KR"/>
              <a:t>and</a:t>
            </a:r>
            <a:r>
              <a:rPr lang="ko-KR" altLang="en-US"/>
              <a:t> </a:t>
            </a:r>
            <a:r>
              <a:rPr lang="en-US" altLang="ko-KR"/>
              <a:t>Incorrext</a:t>
            </a:r>
            <a:r>
              <a:rPr lang="ko-KR" altLang="en-US"/>
              <a:t> </a:t>
            </a:r>
            <a:r>
              <a:rPr lang="en-US" altLang="ko-KR"/>
              <a:t>Retrieval</a:t>
            </a:r>
            <a:endParaRPr lang="ko-KR" altLang="en-US"/>
          </a:p>
        </p:txBody>
      </p:sp>
      <p:sp>
        <p:nvSpPr>
          <p:cNvPr id="12" name="TextBox 11">
            <a:extLst>
              <a:ext uri="{FF2B5EF4-FFF2-40B4-BE49-F238E27FC236}">
                <a16:creationId xmlns:a16="http://schemas.microsoft.com/office/drawing/2014/main" id="{A1B43274-0325-47A1-9419-FE474E2FB80C}"/>
              </a:ext>
            </a:extLst>
          </p:cNvPr>
          <p:cNvSpPr txBox="1"/>
          <p:nvPr/>
        </p:nvSpPr>
        <p:spPr>
          <a:xfrm>
            <a:off x="7721637" y="5076233"/>
            <a:ext cx="1797517" cy="369332"/>
          </a:xfrm>
          <a:prstGeom prst="rect">
            <a:avLst/>
          </a:prstGeom>
          <a:noFill/>
        </p:spPr>
        <p:txBody>
          <a:bodyPr wrap="square" rtlCol="0">
            <a:spAutoFit/>
          </a:bodyPr>
          <a:lstStyle/>
          <a:p>
            <a:r>
              <a:rPr lang="en-US" altLang="ko-KR"/>
              <a:t>week6_lora_v02</a:t>
            </a:r>
            <a:endParaRPr lang="ko-KR" altLang="en-US"/>
          </a:p>
        </p:txBody>
      </p:sp>
      <p:pic>
        <p:nvPicPr>
          <p:cNvPr id="5" name="그림 4">
            <a:extLst>
              <a:ext uri="{FF2B5EF4-FFF2-40B4-BE49-F238E27FC236}">
                <a16:creationId xmlns:a16="http://schemas.microsoft.com/office/drawing/2014/main" id="{F8CD64F9-3187-4A4B-AFAB-0965924A214E}"/>
              </a:ext>
            </a:extLst>
          </p:cNvPr>
          <p:cNvPicPr>
            <a:picLocks noChangeAspect="1"/>
          </p:cNvPicPr>
          <p:nvPr/>
        </p:nvPicPr>
        <p:blipFill>
          <a:blip r:embed="rId3"/>
          <a:stretch>
            <a:fillRect/>
          </a:stretch>
        </p:blipFill>
        <p:spPr>
          <a:xfrm>
            <a:off x="6351979" y="1266003"/>
            <a:ext cx="4536831" cy="3810230"/>
          </a:xfrm>
          <a:prstGeom prst="rect">
            <a:avLst/>
          </a:prstGeom>
        </p:spPr>
      </p:pic>
      <p:sp>
        <p:nvSpPr>
          <p:cNvPr id="13" name="직사각형 12">
            <a:extLst>
              <a:ext uri="{FF2B5EF4-FFF2-40B4-BE49-F238E27FC236}">
                <a16:creationId xmlns:a16="http://schemas.microsoft.com/office/drawing/2014/main" id="{3B991FC4-A9BF-4E18-BAF8-D5AB2EF0E0FB}"/>
              </a:ext>
            </a:extLst>
          </p:cNvPr>
          <p:cNvSpPr/>
          <p:nvPr/>
        </p:nvSpPr>
        <p:spPr>
          <a:xfrm>
            <a:off x="401778" y="5541745"/>
            <a:ext cx="11388443" cy="112924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TextBox 13">
            <a:extLst>
              <a:ext uri="{FF2B5EF4-FFF2-40B4-BE49-F238E27FC236}">
                <a16:creationId xmlns:a16="http://schemas.microsoft.com/office/drawing/2014/main" id="{A50329E4-324D-47CA-BE4A-54083791AD5C}"/>
              </a:ext>
            </a:extLst>
          </p:cNvPr>
          <p:cNvSpPr txBox="1"/>
          <p:nvPr/>
        </p:nvSpPr>
        <p:spPr>
          <a:xfrm>
            <a:off x="499003" y="5593774"/>
            <a:ext cx="11291218" cy="1077218"/>
          </a:xfrm>
          <a:prstGeom prst="rect">
            <a:avLst/>
          </a:prstGeom>
          <a:noFill/>
        </p:spPr>
        <p:txBody>
          <a:bodyPr wrap="square" rtlCol="0">
            <a:spAutoFit/>
          </a:bodyPr>
          <a:lstStyle/>
          <a:p>
            <a:r>
              <a:rPr lang="en-US" altLang="ko-KR" sz="1600" b="1"/>
              <a:t>Week5_lora_v01</a:t>
            </a:r>
            <a:r>
              <a:rPr lang="ko-KR" altLang="en-US" sz="1600" b="1"/>
              <a:t> </a:t>
            </a:r>
            <a:r>
              <a:rPr lang="en-US" altLang="ko-KR" sz="1600" b="1"/>
              <a:t>model </a:t>
            </a:r>
            <a:r>
              <a:rPr lang="en-US" altLang="ko-KR" sz="1600"/>
              <a:t>presents a distracting response, intermixing unrelated topics like "atmospheric correction" and "location accuracy." In contrast, </a:t>
            </a:r>
            <a:r>
              <a:rPr lang="en-US" altLang="ko-KR" sz="1600" b="1"/>
              <a:t>Week6_lora_v02</a:t>
            </a:r>
            <a:r>
              <a:rPr lang="ko-KR" altLang="en-US" sz="1600" b="1"/>
              <a:t> </a:t>
            </a:r>
            <a:r>
              <a:rPr lang="en-US" altLang="ko-KR" sz="1600" b="1"/>
              <a:t>model </a:t>
            </a:r>
            <a:r>
              <a:rPr lang="en-US" altLang="ko-KR" sz="1600"/>
              <a:t>delves deeper into the practical application of each challenge, data management, and the limitations of reference values. It then logically and systematically explains the problem from a researcher's perspective, focusing solely on the question.</a:t>
            </a:r>
            <a:endParaRPr lang="ko-KR" altLang="en-US" sz="1600"/>
          </a:p>
        </p:txBody>
      </p:sp>
    </p:spTree>
    <p:extLst>
      <p:ext uri="{BB962C8B-B14F-4D97-AF65-F5344CB8AC3E}">
        <p14:creationId xmlns:p14="http://schemas.microsoft.com/office/powerpoint/2010/main" val="4033531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DF9A414-F341-4002-9663-F58A9590C36A}"/>
              </a:ext>
            </a:extLst>
          </p:cNvPr>
          <p:cNvSpPr txBox="1"/>
          <p:nvPr/>
        </p:nvSpPr>
        <p:spPr>
          <a:xfrm>
            <a:off x="363825" y="218731"/>
            <a:ext cx="10229023" cy="1107996"/>
          </a:xfrm>
          <a:prstGeom prst="rect">
            <a:avLst/>
          </a:prstGeom>
          <a:noFill/>
        </p:spPr>
        <p:txBody>
          <a:bodyPr wrap="square" rtlCol="0">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sz="2000" b="1" i="0" u="none" strike="noStrike" cap="none" normalizeH="0" baseline="0">
                <a:ln>
                  <a:noFill/>
                </a:ln>
                <a:solidFill>
                  <a:schemeClr val="tx1"/>
                </a:solidFill>
                <a:effectLst/>
                <a:latin typeface="Arial" panose="020B0604020202020204" pitchFamily="34" charset="0"/>
              </a:rPr>
              <a:t>Question </a:t>
            </a:r>
            <a:r>
              <a:rPr kumimoji="0" lang="en-US" altLang="ko-KR" sz="2000" b="1" i="0" u="none" strike="noStrike" cap="none" normalizeH="0" baseline="0">
                <a:ln>
                  <a:noFill/>
                </a:ln>
                <a:solidFill>
                  <a:schemeClr val="tx1"/>
                </a:solidFill>
                <a:effectLst/>
                <a:latin typeface="Arial" panose="020B0604020202020204" pitchFamily="34" charset="0"/>
              </a:rPr>
              <a:t>4</a:t>
            </a:r>
            <a:r>
              <a:rPr kumimoji="0" lang="ko-KR" altLang="ko-KR" sz="2000" b="1" i="0" u="none" strike="noStrike" cap="none" normalizeH="0" baseline="0">
                <a:ln>
                  <a:noFill/>
                </a:ln>
                <a:solidFill>
                  <a:schemeClr val="tx1"/>
                </a:solidFill>
                <a:effectLst/>
                <a:latin typeface="Arial" panose="020B0604020202020204" pitchFamily="34" charset="0"/>
              </a:rPr>
              <a:t> </a:t>
            </a:r>
            <a:r>
              <a:rPr kumimoji="0" lang="ko-KR" altLang="ko-KR" sz="2000" b="1" i="0" u="none" strike="noStrike" cap="none" normalizeH="0" baseline="0">
                <a:ln>
                  <a:noFill/>
                </a:ln>
                <a:solidFill>
                  <a:schemeClr val="bg1">
                    <a:lumMod val="65000"/>
                  </a:schemeClr>
                </a:solidFill>
                <a:effectLst/>
                <a:latin typeface="Arial" panose="020B0604020202020204" pitchFamily="34" charset="0"/>
              </a:rPr>
              <a:t>(Week </a:t>
            </a:r>
            <a:r>
              <a:rPr kumimoji="0" lang="en-US" altLang="ko-KR" sz="2000" b="1" i="0" u="none" strike="noStrike" cap="none" normalizeH="0" baseline="0">
                <a:ln>
                  <a:noFill/>
                </a:ln>
                <a:solidFill>
                  <a:schemeClr val="bg1">
                    <a:lumMod val="65000"/>
                  </a:schemeClr>
                </a:solidFill>
                <a:effectLst/>
                <a:latin typeface="Arial" panose="020B0604020202020204" pitchFamily="34" charset="0"/>
              </a:rPr>
              <a:t>6</a:t>
            </a:r>
            <a:r>
              <a:rPr kumimoji="0" lang="ko-KR" altLang="ko-KR" sz="2000" b="1" i="0" u="none" strike="noStrike" cap="none" normalizeH="0" baseline="0">
                <a:ln>
                  <a:noFill/>
                </a:ln>
                <a:solidFill>
                  <a:schemeClr val="bg1">
                    <a:lumMod val="65000"/>
                  </a:schemeClr>
                </a:solidFill>
                <a:effectLst/>
                <a:latin typeface="Arial" panose="020B0604020202020204" pitchFamily="34" charset="0"/>
              </a:rPr>
              <a:t> </a:t>
            </a:r>
            <a:r>
              <a:rPr kumimoji="0" lang="en-US" altLang="ko-KR" sz="2000" b="1" i="0" u="none" strike="noStrike" cap="none" normalizeH="0" baseline="0">
                <a:ln>
                  <a:noFill/>
                </a:ln>
                <a:solidFill>
                  <a:schemeClr val="bg1">
                    <a:lumMod val="65000"/>
                  </a:schemeClr>
                </a:solidFill>
                <a:effectLst/>
                <a:latin typeface="Arial" panose="020B0604020202020204" pitchFamily="34" charset="0"/>
              </a:rPr>
              <a:t>New </a:t>
            </a:r>
            <a:r>
              <a:rPr kumimoji="0" lang="ko-KR" altLang="ko-KR" sz="2000" b="1" i="0" u="none" strike="noStrike" cap="none" normalizeH="0" baseline="0">
                <a:ln>
                  <a:noFill/>
                </a:ln>
                <a:solidFill>
                  <a:schemeClr val="bg1">
                    <a:lumMod val="65000"/>
                  </a:schemeClr>
                </a:solidFill>
                <a:effectLst/>
                <a:latin typeface="Arial" panose="020B0604020202020204" pitchFamily="34" charset="0"/>
              </a:rPr>
              <a:t>Knowledge)</a:t>
            </a:r>
            <a:endParaRPr kumimoji="0" lang="en-US" altLang="ko-KR" sz="2000" b="1" i="0" u="none" strike="noStrike" cap="none" normalizeH="0" baseline="0">
              <a:ln>
                <a:noFill/>
              </a:ln>
              <a:solidFill>
                <a:schemeClr val="bg1">
                  <a:lumMod val="6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800" b="1" i="0" u="none" strike="noStrike" cap="none" normalizeH="0" baseline="0">
                <a:ln>
                  <a:noFill/>
                </a:ln>
                <a:solidFill>
                  <a:schemeClr val="tx1"/>
                </a:solidFill>
                <a:effectLst/>
                <a:latin typeface="Arial" panose="020B0604020202020204" pitchFamily="34" charset="0"/>
              </a:rPr>
              <a:t>:</a:t>
            </a:r>
            <a:r>
              <a:rPr lang="en-US" altLang="ko-KR">
                <a:latin typeface="Arial" panose="020B0604020202020204" pitchFamily="34" charset="0"/>
              </a:rPr>
              <a:t> </a:t>
            </a:r>
            <a:r>
              <a:rPr kumimoji="0" lang="en-US" altLang="ko-KR" sz="1800" b="0" i="0" u="none" strike="noStrike" cap="none" normalizeH="0" baseline="0">
                <a:ln>
                  <a:noFill/>
                </a:ln>
                <a:solidFill>
                  <a:schemeClr val="tx1"/>
                </a:solidFill>
                <a:effectLst/>
                <a:latin typeface="Arial" panose="020B0604020202020204" pitchFamily="34" charset="0"/>
              </a:rPr>
              <a:t>What analytical method was employed to quantitatively analyze the contribution of environmental factors and spectral bands to the CNN-RF model's inversion?</a:t>
            </a:r>
            <a:endParaRPr kumimoji="0" lang="ko-KR" altLang="ko-KR" sz="1800" b="0" i="0" u="none" strike="noStrike" cap="none" normalizeH="0" baseline="0">
              <a:ln>
                <a:noFill/>
              </a:ln>
              <a:solidFill>
                <a:schemeClr val="tx1"/>
              </a:solidFill>
              <a:effectLst/>
              <a:latin typeface="Arial" panose="020B0604020202020204" pitchFamily="34" charset="0"/>
            </a:endParaRPr>
          </a:p>
        </p:txBody>
      </p:sp>
      <p:pic>
        <p:nvPicPr>
          <p:cNvPr id="4" name="그림 3">
            <a:extLst>
              <a:ext uri="{FF2B5EF4-FFF2-40B4-BE49-F238E27FC236}">
                <a16:creationId xmlns:a16="http://schemas.microsoft.com/office/drawing/2014/main" id="{3E0F88B9-5A1B-4166-A51B-BBC4DE2F21B4}"/>
              </a:ext>
            </a:extLst>
          </p:cNvPr>
          <p:cNvPicPr>
            <a:picLocks noChangeAspect="1"/>
          </p:cNvPicPr>
          <p:nvPr/>
        </p:nvPicPr>
        <p:blipFill>
          <a:blip r:embed="rId2"/>
          <a:stretch>
            <a:fillRect/>
          </a:stretch>
        </p:blipFill>
        <p:spPr>
          <a:xfrm>
            <a:off x="1165397" y="1493486"/>
            <a:ext cx="3327472" cy="3518087"/>
          </a:xfrm>
          <a:prstGeom prst="rect">
            <a:avLst/>
          </a:prstGeom>
        </p:spPr>
      </p:pic>
      <p:sp>
        <p:nvSpPr>
          <p:cNvPr id="5" name="TextBox 4">
            <a:extLst>
              <a:ext uri="{FF2B5EF4-FFF2-40B4-BE49-F238E27FC236}">
                <a16:creationId xmlns:a16="http://schemas.microsoft.com/office/drawing/2014/main" id="{14657F0B-A1F4-4BD7-AF48-CA4D9E5EC82A}"/>
              </a:ext>
            </a:extLst>
          </p:cNvPr>
          <p:cNvSpPr txBox="1"/>
          <p:nvPr/>
        </p:nvSpPr>
        <p:spPr>
          <a:xfrm>
            <a:off x="1782848" y="5116792"/>
            <a:ext cx="1797517" cy="369332"/>
          </a:xfrm>
          <a:prstGeom prst="rect">
            <a:avLst/>
          </a:prstGeom>
          <a:noFill/>
        </p:spPr>
        <p:txBody>
          <a:bodyPr wrap="square" rtlCol="0">
            <a:spAutoFit/>
          </a:bodyPr>
          <a:lstStyle/>
          <a:p>
            <a:r>
              <a:rPr lang="en-US" altLang="ko-KR"/>
              <a:t>week5_lora_v01</a:t>
            </a:r>
            <a:endParaRPr lang="ko-KR" altLang="en-US"/>
          </a:p>
        </p:txBody>
      </p:sp>
      <p:sp>
        <p:nvSpPr>
          <p:cNvPr id="8" name="직사각형 7">
            <a:extLst>
              <a:ext uri="{FF2B5EF4-FFF2-40B4-BE49-F238E27FC236}">
                <a16:creationId xmlns:a16="http://schemas.microsoft.com/office/drawing/2014/main" id="{E9D25FFB-FDEC-42C2-B7DA-B96FA9C42F09}"/>
              </a:ext>
            </a:extLst>
          </p:cNvPr>
          <p:cNvSpPr/>
          <p:nvPr/>
        </p:nvSpPr>
        <p:spPr>
          <a:xfrm>
            <a:off x="1782848" y="3029571"/>
            <a:ext cx="2092569" cy="646331"/>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TextBox 8">
            <a:extLst>
              <a:ext uri="{FF2B5EF4-FFF2-40B4-BE49-F238E27FC236}">
                <a16:creationId xmlns:a16="http://schemas.microsoft.com/office/drawing/2014/main" id="{B81A2EEC-6F58-4EB8-B21D-25CB8F8A9DD5}"/>
              </a:ext>
            </a:extLst>
          </p:cNvPr>
          <p:cNvSpPr txBox="1"/>
          <p:nvPr/>
        </p:nvSpPr>
        <p:spPr>
          <a:xfrm>
            <a:off x="1782848" y="3029571"/>
            <a:ext cx="2092569" cy="646331"/>
          </a:xfrm>
          <a:prstGeom prst="rect">
            <a:avLst/>
          </a:prstGeom>
          <a:noFill/>
        </p:spPr>
        <p:txBody>
          <a:bodyPr wrap="square" rtlCol="0">
            <a:spAutoFit/>
          </a:bodyPr>
          <a:lstStyle/>
          <a:p>
            <a:r>
              <a:rPr lang="en-US" altLang="ko-KR"/>
              <a:t>Factural</a:t>
            </a:r>
            <a:r>
              <a:rPr lang="ko-KR" altLang="en-US"/>
              <a:t> </a:t>
            </a:r>
            <a:r>
              <a:rPr lang="en-US" altLang="ko-KR"/>
              <a:t>Error</a:t>
            </a:r>
            <a:r>
              <a:rPr lang="ko-KR" altLang="en-US"/>
              <a:t> </a:t>
            </a:r>
            <a:r>
              <a:rPr lang="en-US" altLang="ko-KR"/>
              <a:t>and</a:t>
            </a:r>
            <a:r>
              <a:rPr lang="ko-KR" altLang="en-US"/>
              <a:t> </a:t>
            </a:r>
            <a:r>
              <a:rPr lang="en-US" altLang="ko-KR"/>
              <a:t>Incorrext</a:t>
            </a:r>
            <a:r>
              <a:rPr lang="ko-KR" altLang="en-US"/>
              <a:t> </a:t>
            </a:r>
            <a:r>
              <a:rPr lang="en-US" altLang="ko-KR"/>
              <a:t>Retrieval</a:t>
            </a:r>
            <a:endParaRPr lang="ko-KR" altLang="en-US"/>
          </a:p>
        </p:txBody>
      </p:sp>
      <p:sp>
        <p:nvSpPr>
          <p:cNvPr id="10" name="TextBox 9">
            <a:extLst>
              <a:ext uri="{FF2B5EF4-FFF2-40B4-BE49-F238E27FC236}">
                <a16:creationId xmlns:a16="http://schemas.microsoft.com/office/drawing/2014/main" id="{CD225CFC-846C-4BB4-B0A1-B5BB18E71C58}"/>
              </a:ext>
            </a:extLst>
          </p:cNvPr>
          <p:cNvSpPr txBox="1"/>
          <p:nvPr/>
        </p:nvSpPr>
        <p:spPr>
          <a:xfrm>
            <a:off x="7636097" y="5119512"/>
            <a:ext cx="1797517" cy="369332"/>
          </a:xfrm>
          <a:prstGeom prst="rect">
            <a:avLst/>
          </a:prstGeom>
          <a:noFill/>
        </p:spPr>
        <p:txBody>
          <a:bodyPr wrap="square" rtlCol="0">
            <a:spAutoFit/>
          </a:bodyPr>
          <a:lstStyle/>
          <a:p>
            <a:r>
              <a:rPr lang="en-US" altLang="ko-KR"/>
              <a:t>week6_lora_v02</a:t>
            </a:r>
            <a:endParaRPr lang="ko-KR" altLang="en-US"/>
          </a:p>
        </p:txBody>
      </p:sp>
      <p:pic>
        <p:nvPicPr>
          <p:cNvPr id="6" name="그림 5">
            <a:extLst>
              <a:ext uri="{FF2B5EF4-FFF2-40B4-BE49-F238E27FC236}">
                <a16:creationId xmlns:a16="http://schemas.microsoft.com/office/drawing/2014/main" id="{CF9CE2DA-3607-4A2F-AA4F-D415E990EADA}"/>
              </a:ext>
            </a:extLst>
          </p:cNvPr>
          <p:cNvPicPr>
            <a:picLocks noChangeAspect="1"/>
          </p:cNvPicPr>
          <p:nvPr/>
        </p:nvPicPr>
        <p:blipFill>
          <a:blip r:embed="rId3"/>
          <a:stretch>
            <a:fillRect/>
          </a:stretch>
        </p:blipFill>
        <p:spPr>
          <a:xfrm>
            <a:off x="5559441" y="1616612"/>
            <a:ext cx="6040909" cy="3271837"/>
          </a:xfrm>
          <a:prstGeom prst="rect">
            <a:avLst/>
          </a:prstGeom>
        </p:spPr>
      </p:pic>
      <p:sp>
        <p:nvSpPr>
          <p:cNvPr id="12" name="직사각형 11">
            <a:extLst>
              <a:ext uri="{FF2B5EF4-FFF2-40B4-BE49-F238E27FC236}">
                <a16:creationId xmlns:a16="http://schemas.microsoft.com/office/drawing/2014/main" id="{5EC96420-64A9-4E76-BAF8-9C2573C3ACD4}"/>
              </a:ext>
            </a:extLst>
          </p:cNvPr>
          <p:cNvSpPr/>
          <p:nvPr/>
        </p:nvSpPr>
        <p:spPr>
          <a:xfrm>
            <a:off x="363825" y="5685792"/>
            <a:ext cx="11291218" cy="95347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TextBox 12">
            <a:extLst>
              <a:ext uri="{FF2B5EF4-FFF2-40B4-BE49-F238E27FC236}">
                <a16:creationId xmlns:a16="http://schemas.microsoft.com/office/drawing/2014/main" id="{9BFFD756-B766-4316-8BC5-AE9305498748}"/>
              </a:ext>
            </a:extLst>
          </p:cNvPr>
          <p:cNvSpPr txBox="1"/>
          <p:nvPr/>
        </p:nvSpPr>
        <p:spPr>
          <a:xfrm>
            <a:off x="386906" y="5737821"/>
            <a:ext cx="11291218" cy="830997"/>
          </a:xfrm>
          <a:prstGeom prst="rect">
            <a:avLst/>
          </a:prstGeom>
          <a:noFill/>
        </p:spPr>
        <p:txBody>
          <a:bodyPr wrap="square" rtlCol="0">
            <a:spAutoFit/>
          </a:bodyPr>
          <a:lstStyle/>
          <a:p>
            <a:r>
              <a:rPr lang="en-US" altLang="ko-KR" sz="1600" b="1"/>
              <a:t>Week5_lora_v01 model </a:t>
            </a:r>
            <a:r>
              <a:rPr lang="en-US" altLang="ko-KR" sz="1600"/>
              <a:t>repeatedly outputs the same sentences, most of which are irrelevant to the question. </a:t>
            </a:r>
          </a:p>
          <a:p>
            <a:r>
              <a:rPr lang="en-US" altLang="ko-KR" sz="1600" b="1"/>
              <a:t>Week6_lora_v02</a:t>
            </a:r>
            <a:r>
              <a:rPr lang="ko-KR" altLang="en-US" sz="1600" b="1"/>
              <a:t> </a:t>
            </a:r>
            <a:r>
              <a:rPr lang="en-US" altLang="ko-KR" sz="1600" b="1"/>
              <a:t>model </a:t>
            </a:r>
            <a:r>
              <a:rPr lang="en-US" altLang="ko-KR" sz="1600"/>
              <a:t>comprehensively describes the experimental conditions, research background, numerical basis, and related correction methods.</a:t>
            </a:r>
            <a:endParaRPr lang="ko-KR" altLang="en-US" sz="1600"/>
          </a:p>
        </p:txBody>
      </p:sp>
    </p:spTree>
    <p:extLst>
      <p:ext uri="{BB962C8B-B14F-4D97-AF65-F5344CB8AC3E}">
        <p14:creationId xmlns:p14="http://schemas.microsoft.com/office/powerpoint/2010/main" val="14172933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EF5ECFB-7CC7-4700-81CC-D8986EC9EC8E}"/>
              </a:ext>
            </a:extLst>
          </p:cNvPr>
          <p:cNvSpPr txBox="1"/>
          <p:nvPr/>
        </p:nvSpPr>
        <p:spPr>
          <a:xfrm>
            <a:off x="401778" y="128582"/>
            <a:ext cx="10229023" cy="1107996"/>
          </a:xfrm>
          <a:prstGeom prst="rect">
            <a:avLst/>
          </a:prstGeom>
          <a:noFill/>
        </p:spPr>
        <p:txBody>
          <a:bodyPr wrap="square" rtlCol="0">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sz="2000" b="1" i="0" u="none" strike="noStrike" cap="none" normalizeH="0" baseline="0">
                <a:ln>
                  <a:noFill/>
                </a:ln>
                <a:solidFill>
                  <a:schemeClr val="tx1"/>
                </a:solidFill>
                <a:effectLst/>
                <a:latin typeface="Arial" panose="020B0604020202020204" pitchFamily="34" charset="0"/>
              </a:rPr>
              <a:t>Question </a:t>
            </a:r>
            <a:r>
              <a:rPr lang="en-US" altLang="ko-KR" sz="2000" b="1">
                <a:latin typeface="Arial" panose="020B0604020202020204" pitchFamily="34" charset="0"/>
              </a:rPr>
              <a:t>5</a:t>
            </a:r>
            <a:r>
              <a:rPr kumimoji="0" lang="ko-KR" altLang="ko-KR" sz="2000" b="1" i="0" u="none" strike="noStrike" cap="none" normalizeH="0" baseline="0">
                <a:ln>
                  <a:noFill/>
                </a:ln>
                <a:solidFill>
                  <a:schemeClr val="tx1"/>
                </a:solidFill>
                <a:effectLst/>
                <a:latin typeface="Arial" panose="020B0604020202020204" pitchFamily="34" charset="0"/>
              </a:rPr>
              <a:t> </a:t>
            </a:r>
            <a:r>
              <a:rPr kumimoji="0" lang="ko-KR" altLang="ko-KR" sz="2000" b="1" i="0" u="none" strike="noStrike" cap="none" normalizeH="0" baseline="0">
                <a:ln>
                  <a:noFill/>
                </a:ln>
                <a:solidFill>
                  <a:schemeClr val="bg1">
                    <a:lumMod val="65000"/>
                  </a:schemeClr>
                </a:solidFill>
                <a:effectLst/>
                <a:latin typeface="Arial" panose="020B0604020202020204" pitchFamily="34" charset="0"/>
              </a:rPr>
              <a:t>(</a:t>
            </a:r>
            <a:r>
              <a:rPr kumimoji="0" lang="en-US" altLang="ko-KR" sz="2000" b="1" i="0" u="none" strike="noStrike" cap="none" normalizeH="0" baseline="0">
                <a:ln>
                  <a:noFill/>
                </a:ln>
                <a:solidFill>
                  <a:schemeClr val="bg1">
                    <a:lumMod val="65000"/>
                  </a:schemeClr>
                </a:solidFill>
                <a:effectLst/>
                <a:latin typeface="Arial" panose="020B0604020202020204" pitchFamily="34" charset="0"/>
              </a:rPr>
              <a:t>New knowledge not found in the two training data</a:t>
            </a:r>
            <a:r>
              <a:rPr kumimoji="0" lang="ko-KR" altLang="ko-KR" sz="2000" b="1" i="0" u="none" strike="noStrike" cap="none" normalizeH="0" baseline="0">
                <a:ln>
                  <a:noFill/>
                </a:ln>
                <a:solidFill>
                  <a:schemeClr val="bg1">
                    <a:lumMod val="65000"/>
                  </a:schemeClr>
                </a:solidFill>
                <a:effectLst/>
                <a:latin typeface="Arial" panose="020B0604020202020204" pitchFamily="34" charset="0"/>
              </a:rPr>
              <a:t>)</a:t>
            </a:r>
            <a:endParaRPr kumimoji="0" lang="en-US" altLang="ko-KR" sz="2000" b="1" i="0" u="none" strike="noStrike" cap="none" normalizeH="0" baseline="0">
              <a:ln>
                <a:noFill/>
              </a:ln>
              <a:solidFill>
                <a:schemeClr val="bg1">
                  <a:lumMod val="6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800" b="1" i="0" u="none" strike="noStrike" cap="none" normalizeH="0" baseline="0">
                <a:ln>
                  <a:noFill/>
                </a:ln>
                <a:solidFill>
                  <a:schemeClr val="tx1"/>
                </a:solidFill>
                <a:effectLst/>
                <a:latin typeface="Arial" panose="020B0604020202020204" pitchFamily="34" charset="0"/>
              </a:rPr>
              <a:t>:</a:t>
            </a:r>
            <a:r>
              <a:rPr lang="en-US" altLang="ko-KR">
                <a:latin typeface="Arial" panose="020B0604020202020204" pitchFamily="34" charset="0"/>
              </a:rPr>
              <a:t> </a:t>
            </a:r>
            <a:r>
              <a:rPr kumimoji="0" lang="en-US" altLang="ko-KR" sz="1800" b="0" i="0" u="none" strike="noStrike" cap="none" normalizeH="0" baseline="0">
                <a:ln>
                  <a:noFill/>
                </a:ln>
                <a:solidFill>
                  <a:schemeClr val="tx1"/>
                </a:solidFill>
                <a:effectLst/>
                <a:latin typeface="Arial" panose="020B0604020202020204" pitchFamily="34" charset="0"/>
              </a:rPr>
              <a:t>How can deep learning models improve water-quality monitoring accuracy in rivers affected by seasonal changes (e.g., rainy seasons)?</a:t>
            </a:r>
            <a:endParaRPr kumimoji="0" lang="ko-KR" altLang="ko-KR" sz="1800" b="0" i="0" u="none" strike="noStrike" cap="none" normalizeH="0" baseline="0">
              <a:ln>
                <a:noFill/>
              </a:ln>
              <a:solidFill>
                <a:schemeClr val="tx1"/>
              </a:solidFill>
              <a:effectLst/>
              <a:latin typeface="Arial" panose="020B0604020202020204" pitchFamily="34" charset="0"/>
            </a:endParaRPr>
          </a:p>
        </p:txBody>
      </p:sp>
      <p:pic>
        <p:nvPicPr>
          <p:cNvPr id="4" name="그림 3">
            <a:extLst>
              <a:ext uri="{FF2B5EF4-FFF2-40B4-BE49-F238E27FC236}">
                <a16:creationId xmlns:a16="http://schemas.microsoft.com/office/drawing/2014/main" id="{06EDE758-008A-4D9D-BD44-E1FB07A61160}"/>
              </a:ext>
            </a:extLst>
          </p:cNvPr>
          <p:cNvPicPr>
            <a:picLocks noChangeAspect="1"/>
          </p:cNvPicPr>
          <p:nvPr/>
        </p:nvPicPr>
        <p:blipFill>
          <a:blip r:embed="rId2"/>
          <a:stretch>
            <a:fillRect/>
          </a:stretch>
        </p:blipFill>
        <p:spPr>
          <a:xfrm>
            <a:off x="1430553" y="1410470"/>
            <a:ext cx="3135247" cy="3445102"/>
          </a:xfrm>
          <a:prstGeom prst="rect">
            <a:avLst/>
          </a:prstGeom>
        </p:spPr>
      </p:pic>
      <p:sp>
        <p:nvSpPr>
          <p:cNvPr id="5" name="TextBox 4">
            <a:extLst>
              <a:ext uri="{FF2B5EF4-FFF2-40B4-BE49-F238E27FC236}">
                <a16:creationId xmlns:a16="http://schemas.microsoft.com/office/drawing/2014/main" id="{AE07D8C0-A2A5-410F-A828-60D688368755}"/>
              </a:ext>
            </a:extLst>
          </p:cNvPr>
          <p:cNvSpPr txBox="1"/>
          <p:nvPr/>
        </p:nvSpPr>
        <p:spPr>
          <a:xfrm>
            <a:off x="2099417" y="4907601"/>
            <a:ext cx="1797517" cy="369332"/>
          </a:xfrm>
          <a:prstGeom prst="rect">
            <a:avLst/>
          </a:prstGeom>
          <a:noFill/>
        </p:spPr>
        <p:txBody>
          <a:bodyPr wrap="square" rtlCol="0">
            <a:spAutoFit/>
          </a:bodyPr>
          <a:lstStyle/>
          <a:p>
            <a:r>
              <a:rPr lang="en-US" altLang="ko-KR"/>
              <a:t>week5_lora_v01</a:t>
            </a:r>
            <a:endParaRPr lang="ko-KR" altLang="en-US"/>
          </a:p>
        </p:txBody>
      </p:sp>
      <p:sp>
        <p:nvSpPr>
          <p:cNvPr id="7" name="직사각형 6">
            <a:extLst>
              <a:ext uri="{FF2B5EF4-FFF2-40B4-BE49-F238E27FC236}">
                <a16:creationId xmlns:a16="http://schemas.microsoft.com/office/drawing/2014/main" id="{99DFF394-3E71-483D-A86E-E8EAE0D1A563}"/>
              </a:ext>
            </a:extLst>
          </p:cNvPr>
          <p:cNvSpPr/>
          <p:nvPr/>
        </p:nvSpPr>
        <p:spPr>
          <a:xfrm>
            <a:off x="2013439" y="3043661"/>
            <a:ext cx="2092569" cy="646331"/>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TextBox 5">
            <a:extLst>
              <a:ext uri="{FF2B5EF4-FFF2-40B4-BE49-F238E27FC236}">
                <a16:creationId xmlns:a16="http://schemas.microsoft.com/office/drawing/2014/main" id="{75D270E5-101D-46AE-AA4F-3F43324622E5}"/>
              </a:ext>
            </a:extLst>
          </p:cNvPr>
          <p:cNvSpPr txBox="1"/>
          <p:nvPr/>
        </p:nvSpPr>
        <p:spPr>
          <a:xfrm>
            <a:off x="2013439" y="3043661"/>
            <a:ext cx="2092569" cy="646331"/>
          </a:xfrm>
          <a:prstGeom prst="rect">
            <a:avLst/>
          </a:prstGeom>
          <a:noFill/>
        </p:spPr>
        <p:txBody>
          <a:bodyPr wrap="square" rtlCol="0">
            <a:spAutoFit/>
          </a:bodyPr>
          <a:lstStyle/>
          <a:p>
            <a:r>
              <a:rPr lang="en-US" altLang="ko-KR"/>
              <a:t>Factural</a:t>
            </a:r>
            <a:r>
              <a:rPr lang="ko-KR" altLang="en-US"/>
              <a:t> </a:t>
            </a:r>
            <a:r>
              <a:rPr lang="en-US" altLang="ko-KR"/>
              <a:t>Error</a:t>
            </a:r>
            <a:r>
              <a:rPr lang="ko-KR" altLang="en-US"/>
              <a:t> </a:t>
            </a:r>
            <a:r>
              <a:rPr lang="en-US" altLang="ko-KR"/>
              <a:t>and</a:t>
            </a:r>
            <a:r>
              <a:rPr lang="ko-KR" altLang="en-US"/>
              <a:t> </a:t>
            </a:r>
            <a:r>
              <a:rPr lang="en-US" altLang="ko-KR"/>
              <a:t>Incorrext</a:t>
            </a:r>
            <a:r>
              <a:rPr lang="ko-KR" altLang="en-US"/>
              <a:t> </a:t>
            </a:r>
            <a:r>
              <a:rPr lang="en-US" altLang="ko-KR"/>
              <a:t>Retrieval</a:t>
            </a:r>
            <a:endParaRPr lang="ko-KR" altLang="en-US"/>
          </a:p>
        </p:txBody>
      </p:sp>
      <p:sp>
        <p:nvSpPr>
          <p:cNvPr id="13" name="TextBox 12">
            <a:extLst>
              <a:ext uri="{FF2B5EF4-FFF2-40B4-BE49-F238E27FC236}">
                <a16:creationId xmlns:a16="http://schemas.microsoft.com/office/drawing/2014/main" id="{6AB39F2C-1F61-441E-A6B9-92E8FAC71B31}"/>
              </a:ext>
            </a:extLst>
          </p:cNvPr>
          <p:cNvSpPr txBox="1"/>
          <p:nvPr/>
        </p:nvSpPr>
        <p:spPr>
          <a:xfrm>
            <a:off x="7819724" y="4907601"/>
            <a:ext cx="1797517" cy="369332"/>
          </a:xfrm>
          <a:prstGeom prst="rect">
            <a:avLst/>
          </a:prstGeom>
          <a:noFill/>
        </p:spPr>
        <p:txBody>
          <a:bodyPr wrap="square" rtlCol="0">
            <a:spAutoFit/>
          </a:bodyPr>
          <a:lstStyle/>
          <a:p>
            <a:r>
              <a:rPr lang="en-US" altLang="ko-KR"/>
              <a:t>week6_lora_v02</a:t>
            </a:r>
            <a:endParaRPr lang="ko-KR" altLang="en-US"/>
          </a:p>
        </p:txBody>
      </p:sp>
      <p:pic>
        <p:nvPicPr>
          <p:cNvPr id="8" name="그림 7">
            <a:extLst>
              <a:ext uri="{FF2B5EF4-FFF2-40B4-BE49-F238E27FC236}">
                <a16:creationId xmlns:a16="http://schemas.microsoft.com/office/drawing/2014/main" id="{A7A3A9CE-A22A-4D0E-9B0D-E425D858A091}"/>
              </a:ext>
            </a:extLst>
          </p:cNvPr>
          <p:cNvPicPr>
            <a:picLocks noChangeAspect="1"/>
          </p:cNvPicPr>
          <p:nvPr/>
        </p:nvPicPr>
        <p:blipFill>
          <a:blip r:embed="rId3"/>
          <a:stretch>
            <a:fillRect/>
          </a:stretch>
        </p:blipFill>
        <p:spPr>
          <a:xfrm>
            <a:off x="6958435" y="1407044"/>
            <a:ext cx="3520093" cy="3448528"/>
          </a:xfrm>
          <a:prstGeom prst="rect">
            <a:avLst/>
          </a:prstGeom>
        </p:spPr>
      </p:pic>
      <p:sp>
        <p:nvSpPr>
          <p:cNvPr id="17" name="직사각형 16">
            <a:extLst>
              <a:ext uri="{FF2B5EF4-FFF2-40B4-BE49-F238E27FC236}">
                <a16:creationId xmlns:a16="http://schemas.microsoft.com/office/drawing/2014/main" id="{47CBBD0A-7EFE-438A-8421-E4CE8A0C8750}"/>
              </a:ext>
            </a:extLst>
          </p:cNvPr>
          <p:cNvSpPr/>
          <p:nvPr/>
        </p:nvSpPr>
        <p:spPr>
          <a:xfrm>
            <a:off x="401778" y="5447531"/>
            <a:ext cx="11388443" cy="122346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TextBox 17">
            <a:extLst>
              <a:ext uri="{FF2B5EF4-FFF2-40B4-BE49-F238E27FC236}">
                <a16:creationId xmlns:a16="http://schemas.microsoft.com/office/drawing/2014/main" id="{070AB66E-35C5-4465-902E-80B90B98C8DD}"/>
              </a:ext>
            </a:extLst>
          </p:cNvPr>
          <p:cNvSpPr txBox="1"/>
          <p:nvPr/>
        </p:nvSpPr>
        <p:spPr>
          <a:xfrm>
            <a:off x="524992" y="5520653"/>
            <a:ext cx="11142013" cy="1077218"/>
          </a:xfrm>
          <a:prstGeom prst="rect">
            <a:avLst/>
          </a:prstGeom>
          <a:noFill/>
        </p:spPr>
        <p:txBody>
          <a:bodyPr wrap="square" rtlCol="0">
            <a:spAutoFit/>
          </a:bodyPr>
          <a:lstStyle/>
          <a:p>
            <a:r>
              <a:rPr lang="en-US" altLang="ko-KR" sz="1600" b="1"/>
              <a:t>Week5_lora_v01</a:t>
            </a:r>
            <a:r>
              <a:rPr lang="ko-KR" altLang="en-US" sz="1600" b="1"/>
              <a:t> </a:t>
            </a:r>
            <a:r>
              <a:rPr lang="en-US" altLang="ko-KR" sz="1600" b="1"/>
              <a:t>model </a:t>
            </a:r>
            <a:r>
              <a:rPr lang="en-US" altLang="ko-KR" sz="1600"/>
              <a:t>filled in more than half of the answers with text completely unrelated to the question.</a:t>
            </a:r>
          </a:p>
          <a:p>
            <a:r>
              <a:rPr lang="en-US" altLang="ko-KR" sz="1600" b="1"/>
              <a:t>Week6_lora_v02</a:t>
            </a:r>
            <a:r>
              <a:rPr lang="ko-KR" altLang="en-US" sz="1600" b="1"/>
              <a:t> </a:t>
            </a:r>
            <a:r>
              <a:rPr lang="en-US" altLang="ko-KR" sz="1600" b="1"/>
              <a:t>model </a:t>
            </a:r>
            <a:r>
              <a:rPr kumimoji="0" lang="ko-KR" altLang="ko-KR" sz="1600" b="0" i="0" u="none" strike="noStrike" cap="none" normalizeH="0" baseline="0">
                <a:ln>
                  <a:noFill/>
                </a:ln>
                <a:solidFill>
                  <a:srgbClr val="1F1F1F"/>
                </a:solidFill>
                <a:effectLst/>
                <a:latin typeface="Arial Unicode MS" panose="020B0604020202020204" pitchFamily="50" charset="-127"/>
                <a:ea typeface="inherit"/>
              </a:rPr>
              <a:t>displayed formatting errors, with its entire answer being repeated twice. </a:t>
            </a:r>
            <a:endParaRPr kumimoji="0" lang="en-US" altLang="ko-KR" sz="1600" b="0" i="0" u="none" strike="noStrike" cap="none" normalizeH="0" baseline="0">
              <a:ln>
                <a:noFill/>
              </a:ln>
              <a:solidFill>
                <a:srgbClr val="1F1F1F"/>
              </a:solidFill>
              <a:effectLst/>
              <a:latin typeface="Arial Unicode MS" panose="020B0604020202020204" pitchFamily="50" charset="-127"/>
              <a:ea typeface="inherit"/>
            </a:endParaRPr>
          </a:p>
          <a:p>
            <a:r>
              <a:rPr kumimoji="0" lang="ko-KR" altLang="ko-KR" sz="1600" b="0" i="0" u="none" strike="noStrike" cap="none" normalizeH="0" baseline="0">
                <a:ln>
                  <a:noFill/>
                </a:ln>
                <a:solidFill>
                  <a:srgbClr val="1F1F1F"/>
                </a:solidFill>
                <a:effectLst/>
                <a:latin typeface="Arial Unicode MS" panose="020B0604020202020204" pitchFamily="50" charset="-127"/>
                <a:ea typeface="inherit"/>
              </a:rPr>
              <a:t>However, by combining background knowledge gained from pretraining, it generated sufficiently valid answers for new questions.</a:t>
            </a:r>
            <a:r>
              <a:rPr kumimoji="0" lang="ko-KR" altLang="ko-KR" sz="500" b="0" i="0" u="none" strike="noStrike" cap="none" normalizeH="0" baseline="0">
                <a:ln>
                  <a:noFill/>
                </a:ln>
                <a:solidFill>
                  <a:schemeClr val="tx1"/>
                </a:solidFill>
                <a:effectLst/>
              </a:rPr>
              <a:t> </a:t>
            </a:r>
            <a:endParaRPr kumimoji="0" lang="ko-KR" altLang="ko-KR" sz="12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213974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1D7BAAFC-F25B-43C0-9428-51A15CF6D647}"/>
              </a:ext>
            </a:extLst>
          </p:cNvPr>
          <p:cNvSpPr/>
          <p:nvPr/>
        </p:nvSpPr>
        <p:spPr>
          <a:xfrm>
            <a:off x="332198" y="235925"/>
            <a:ext cx="5763802" cy="54453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3" name="TextBox 2">
            <a:extLst>
              <a:ext uri="{FF2B5EF4-FFF2-40B4-BE49-F238E27FC236}">
                <a16:creationId xmlns:a16="http://schemas.microsoft.com/office/drawing/2014/main" id="{1B1F0157-29F8-457C-AE56-2177329CF238}"/>
              </a:ext>
            </a:extLst>
          </p:cNvPr>
          <p:cNvSpPr txBox="1"/>
          <p:nvPr/>
        </p:nvSpPr>
        <p:spPr>
          <a:xfrm>
            <a:off x="332197" y="246580"/>
            <a:ext cx="5833213" cy="523220"/>
          </a:xfrm>
          <a:prstGeom prst="rect">
            <a:avLst/>
          </a:prstGeom>
          <a:noFill/>
        </p:spPr>
        <p:txBody>
          <a:bodyPr wrap="square" rtlCol="0">
            <a:spAutoFit/>
          </a:bodyPr>
          <a:lstStyle/>
          <a:p>
            <a:r>
              <a:rPr lang="en-US" altLang="ko-KR" sz="2800" b="1"/>
              <a:t>Part A: Practical Implementation</a:t>
            </a:r>
            <a:endParaRPr lang="en-US" altLang="ko-KR" sz="2800" b="1">
              <a:effectLst/>
            </a:endParaRPr>
          </a:p>
        </p:txBody>
      </p:sp>
      <p:sp>
        <p:nvSpPr>
          <p:cNvPr id="4" name="TextBox 3">
            <a:extLst>
              <a:ext uri="{FF2B5EF4-FFF2-40B4-BE49-F238E27FC236}">
                <a16:creationId xmlns:a16="http://schemas.microsoft.com/office/drawing/2014/main" id="{E811F2F3-6305-4878-8ED7-3FAC7093436E}"/>
              </a:ext>
            </a:extLst>
          </p:cNvPr>
          <p:cNvSpPr txBox="1"/>
          <p:nvPr/>
        </p:nvSpPr>
        <p:spPr>
          <a:xfrm>
            <a:off x="332197" y="1155382"/>
            <a:ext cx="8264769" cy="369332"/>
          </a:xfrm>
          <a:prstGeom prst="rect">
            <a:avLst/>
          </a:prstGeom>
          <a:noFill/>
        </p:spPr>
        <p:txBody>
          <a:bodyPr wrap="square" rtlCol="0">
            <a:spAutoFit/>
          </a:bodyPr>
          <a:lstStyle/>
          <a:p>
            <a:pPr marL="285750" indent="-285750">
              <a:buFont typeface="Arial" panose="020B0604020202020204" pitchFamily="34" charset="0"/>
              <a:buChar char="•"/>
            </a:pPr>
            <a:r>
              <a:rPr lang="en-US" altLang="ko-KR"/>
              <a:t>Comparative Table – Model Performance on 5 Questions</a:t>
            </a:r>
            <a:endParaRPr lang="ko-KR" altLang="en-US"/>
          </a:p>
        </p:txBody>
      </p:sp>
      <p:graphicFrame>
        <p:nvGraphicFramePr>
          <p:cNvPr id="5" name="표 5">
            <a:extLst>
              <a:ext uri="{FF2B5EF4-FFF2-40B4-BE49-F238E27FC236}">
                <a16:creationId xmlns:a16="http://schemas.microsoft.com/office/drawing/2014/main" id="{C48F077B-E35F-405C-935D-6B2C0AC2CEAA}"/>
              </a:ext>
            </a:extLst>
          </p:cNvPr>
          <p:cNvGraphicFramePr>
            <a:graphicFrameLocks noGrp="1"/>
          </p:cNvGraphicFramePr>
          <p:nvPr>
            <p:extLst>
              <p:ext uri="{D42A27DB-BD31-4B8C-83A1-F6EECF244321}">
                <p14:modId xmlns:p14="http://schemas.microsoft.com/office/powerpoint/2010/main" val="3988373581"/>
              </p:ext>
            </p:extLst>
          </p:nvPr>
        </p:nvGraphicFramePr>
        <p:xfrm>
          <a:off x="410843" y="1899641"/>
          <a:ext cx="11509133" cy="2941320"/>
        </p:xfrm>
        <a:graphic>
          <a:graphicData uri="http://schemas.openxmlformats.org/drawingml/2006/table">
            <a:tbl>
              <a:tblPr firstRow="1" bandRow="1">
                <a:tableStyleId>{5C22544A-7EE6-4342-B048-85BDC9FD1C3A}</a:tableStyleId>
              </a:tblPr>
              <a:tblGrid>
                <a:gridCol w="2247499">
                  <a:extLst>
                    <a:ext uri="{9D8B030D-6E8A-4147-A177-3AD203B41FA5}">
                      <a16:colId xmlns:a16="http://schemas.microsoft.com/office/drawing/2014/main" val="1039971612"/>
                    </a:ext>
                  </a:extLst>
                </a:gridCol>
                <a:gridCol w="4630817">
                  <a:extLst>
                    <a:ext uri="{9D8B030D-6E8A-4147-A177-3AD203B41FA5}">
                      <a16:colId xmlns:a16="http://schemas.microsoft.com/office/drawing/2014/main" val="1434635782"/>
                    </a:ext>
                  </a:extLst>
                </a:gridCol>
                <a:gridCol w="4630817">
                  <a:extLst>
                    <a:ext uri="{9D8B030D-6E8A-4147-A177-3AD203B41FA5}">
                      <a16:colId xmlns:a16="http://schemas.microsoft.com/office/drawing/2014/main" val="2863603731"/>
                    </a:ext>
                  </a:extLst>
                </a:gridCol>
              </a:tblGrid>
              <a:tr h="370840">
                <a:tc>
                  <a:txBody>
                    <a:bodyPr/>
                    <a:lstStyle/>
                    <a:p>
                      <a:pPr algn="ctr"/>
                      <a:r>
                        <a:rPr lang="en-US" b="1">
                          <a:effectLst/>
                        </a:rPr>
                        <a:t>Evaluation Aspect</a:t>
                      </a:r>
                    </a:p>
                  </a:txBody>
                  <a:tcPr marL="76200" marR="76200" marT="76200" marB="76200" anchor="ctr"/>
                </a:tc>
                <a:tc>
                  <a:txBody>
                    <a:bodyPr/>
                    <a:lstStyle/>
                    <a:p>
                      <a:pPr algn="ctr"/>
                      <a:r>
                        <a:rPr lang="en-US" b="1">
                          <a:effectLst/>
                        </a:rPr>
                        <a:t>Week5_lora_v01</a:t>
                      </a:r>
                    </a:p>
                    <a:p>
                      <a:pPr algn="ctr"/>
                      <a:r>
                        <a:rPr lang="en-US" b="1">
                          <a:effectLst/>
                        </a:rPr>
                        <a:t>(Baseline Model)</a:t>
                      </a:r>
                    </a:p>
                  </a:txBody>
                  <a:tcPr marL="76200" marR="76200" marT="76200" marB="76200"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a:t>Week6_lora_v02 </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b="1">
                          <a:effectLst/>
                        </a:rPr>
                        <a:t>(Incremental Model)</a:t>
                      </a:r>
                    </a:p>
                  </a:txBody>
                  <a:tcPr marL="76200" marR="76200" marT="76200" marB="76200" anchor="ctr"/>
                </a:tc>
                <a:extLst>
                  <a:ext uri="{0D108BD9-81ED-4DB2-BD59-A6C34878D82A}">
                    <a16:rowId xmlns:a16="http://schemas.microsoft.com/office/drawing/2014/main" val="921207012"/>
                  </a:ext>
                </a:extLst>
              </a:tr>
              <a:tr h="370840">
                <a:tc>
                  <a:txBody>
                    <a:bodyPr/>
                    <a:lstStyle/>
                    <a:p>
                      <a:pPr algn="ctr"/>
                      <a:r>
                        <a:rPr lang="en-US" b="1">
                          <a:solidFill>
                            <a:schemeClr val="accent1">
                              <a:lumMod val="50000"/>
                            </a:schemeClr>
                          </a:solidFill>
                          <a:effectLst/>
                        </a:rPr>
                        <a:t>Accuracy</a:t>
                      </a:r>
                    </a:p>
                  </a:txBody>
                  <a:tcPr marL="76200" marR="76200" marT="76200" marB="76200" anchor="ctr"/>
                </a:tc>
                <a:tc>
                  <a:txBody>
                    <a:bodyPr/>
                    <a:lstStyle/>
                    <a:p>
                      <a:pPr algn="ctr">
                        <a:lnSpc>
                          <a:spcPct val="150000"/>
                        </a:lnSpc>
                      </a:pPr>
                      <a:r>
                        <a:rPr lang="en-US" b="1">
                          <a:effectLst/>
                        </a:rPr>
                        <a:t>Moderate to low </a:t>
                      </a:r>
                    </a:p>
                    <a:p>
                      <a:pPr algn="ctr"/>
                      <a:r>
                        <a:rPr lang="en-US" sz="1200">
                          <a:effectLst/>
                        </a:rPr>
                        <a:t>(frequent hallucinations, irrelevant or repetitive responses)</a:t>
                      </a:r>
                    </a:p>
                  </a:txBody>
                  <a:tcPr marL="76200" marR="76200" marT="76200" marB="76200" anchor="ctr"/>
                </a:tc>
                <a:tc>
                  <a:txBody>
                    <a:bodyPr/>
                    <a:lstStyle/>
                    <a:p>
                      <a:pPr algn="ctr">
                        <a:lnSpc>
                          <a:spcPct val="150000"/>
                        </a:lnSpc>
                      </a:pPr>
                      <a:r>
                        <a:rPr lang="en-US" b="1">
                          <a:effectLst/>
                        </a:rPr>
                        <a:t>High</a:t>
                      </a:r>
                      <a:r>
                        <a:rPr lang="en-US">
                          <a:effectLst/>
                        </a:rPr>
                        <a:t> </a:t>
                      </a:r>
                    </a:p>
                    <a:p>
                      <a:pPr algn="ctr"/>
                      <a:r>
                        <a:rPr lang="en-US" sz="1200">
                          <a:effectLst/>
                        </a:rPr>
                        <a:t>(precise answers, error correction, strong question alignment)</a:t>
                      </a:r>
                    </a:p>
                  </a:txBody>
                  <a:tcPr marL="76200" marR="76200" marT="76200" marB="76200" anchor="ctr"/>
                </a:tc>
                <a:extLst>
                  <a:ext uri="{0D108BD9-81ED-4DB2-BD59-A6C34878D82A}">
                    <a16:rowId xmlns:a16="http://schemas.microsoft.com/office/drawing/2014/main" val="1881632899"/>
                  </a:ext>
                </a:extLst>
              </a:tr>
              <a:tr h="370840">
                <a:tc>
                  <a:txBody>
                    <a:bodyPr/>
                    <a:lstStyle/>
                    <a:p>
                      <a:pPr algn="ctr"/>
                      <a:r>
                        <a:rPr lang="en-US" b="1">
                          <a:solidFill>
                            <a:schemeClr val="accent1">
                              <a:lumMod val="50000"/>
                            </a:schemeClr>
                          </a:solidFill>
                          <a:effectLst/>
                        </a:rPr>
                        <a:t>Detail</a:t>
                      </a:r>
                    </a:p>
                  </a:txBody>
                  <a:tcPr marL="76200" marR="76200" marT="76200" marB="76200" anchor="ctr"/>
                </a:tc>
                <a:tc>
                  <a:txBody>
                    <a:bodyPr/>
                    <a:lstStyle/>
                    <a:p>
                      <a:pPr algn="ctr">
                        <a:lnSpc>
                          <a:spcPct val="150000"/>
                        </a:lnSpc>
                      </a:pPr>
                      <a:r>
                        <a:rPr lang="en-US" b="1">
                          <a:effectLst/>
                        </a:rPr>
                        <a:t>Low</a:t>
                      </a:r>
                      <a:r>
                        <a:rPr lang="en-US">
                          <a:effectLst/>
                        </a:rPr>
                        <a:t> </a:t>
                      </a:r>
                    </a:p>
                    <a:p>
                      <a:pPr algn="ctr"/>
                      <a:r>
                        <a:rPr lang="en-US" sz="1200">
                          <a:effectLst/>
                        </a:rPr>
                        <a:t>(brief, often missing data, repetitive or oversimplified)</a:t>
                      </a:r>
                    </a:p>
                  </a:txBody>
                  <a:tcPr marL="76200" marR="76200" marT="76200" marB="76200" anchor="ctr"/>
                </a:tc>
                <a:tc>
                  <a:txBody>
                    <a:bodyPr/>
                    <a:lstStyle/>
                    <a:p>
                      <a:pPr algn="ctr">
                        <a:lnSpc>
                          <a:spcPct val="150000"/>
                        </a:lnSpc>
                      </a:pPr>
                      <a:r>
                        <a:rPr lang="en-US" b="1">
                          <a:effectLst/>
                        </a:rPr>
                        <a:t>High</a:t>
                      </a:r>
                      <a:r>
                        <a:rPr lang="en-US">
                          <a:effectLst/>
                        </a:rPr>
                        <a:t> </a:t>
                      </a:r>
                    </a:p>
                    <a:p>
                      <a:pPr algn="ctr"/>
                      <a:r>
                        <a:rPr lang="en-US" sz="1200">
                          <a:effectLst/>
                        </a:rPr>
                        <a:t>(includes specific metrics, reasoning, and detailed explanations)</a:t>
                      </a:r>
                    </a:p>
                  </a:txBody>
                  <a:tcPr marL="76200" marR="76200" marT="76200" marB="76200" anchor="ctr"/>
                </a:tc>
                <a:extLst>
                  <a:ext uri="{0D108BD9-81ED-4DB2-BD59-A6C34878D82A}">
                    <a16:rowId xmlns:a16="http://schemas.microsoft.com/office/drawing/2014/main" val="4136808995"/>
                  </a:ext>
                </a:extLst>
              </a:tr>
              <a:tr h="370840">
                <a:tc>
                  <a:txBody>
                    <a:bodyPr/>
                    <a:lstStyle/>
                    <a:p>
                      <a:pPr algn="ctr"/>
                      <a:r>
                        <a:rPr lang="en-US" b="1">
                          <a:solidFill>
                            <a:schemeClr val="accent1">
                              <a:lumMod val="50000"/>
                            </a:schemeClr>
                          </a:solidFill>
                          <a:effectLst/>
                        </a:rPr>
                        <a:t>Domain Relevance</a:t>
                      </a:r>
                    </a:p>
                  </a:txBody>
                  <a:tcPr marL="76200" marR="76200" marT="76200" marB="76200" anchor="ctr"/>
                </a:tc>
                <a:tc>
                  <a:txBody>
                    <a:bodyPr/>
                    <a:lstStyle/>
                    <a:p>
                      <a:pPr algn="ctr">
                        <a:lnSpc>
                          <a:spcPct val="150000"/>
                        </a:lnSpc>
                      </a:pPr>
                      <a:r>
                        <a:rPr lang="en-US" b="1">
                          <a:effectLst/>
                        </a:rPr>
                        <a:t>Low</a:t>
                      </a:r>
                      <a:r>
                        <a:rPr lang="en-US">
                          <a:effectLst/>
                        </a:rPr>
                        <a:t> </a:t>
                      </a:r>
                    </a:p>
                    <a:p>
                      <a:pPr algn="ctr"/>
                      <a:r>
                        <a:rPr lang="en-US" sz="1200">
                          <a:effectLst/>
                        </a:rPr>
                        <a:t>(struggles with new domains, limited adaptation)</a:t>
                      </a:r>
                    </a:p>
                  </a:txBody>
                  <a:tcPr marL="76200" marR="76200" marT="76200" marB="76200" anchor="ctr"/>
                </a:tc>
                <a:tc>
                  <a:txBody>
                    <a:bodyPr/>
                    <a:lstStyle/>
                    <a:p>
                      <a:pPr algn="ctr">
                        <a:lnSpc>
                          <a:spcPct val="150000"/>
                        </a:lnSpc>
                      </a:pPr>
                      <a:r>
                        <a:rPr lang="en-US" b="1">
                          <a:effectLst/>
                        </a:rPr>
                        <a:t>High</a:t>
                      </a:r>
                      <a:r>
                        <a:rPr lang="en-US">
                          <a:effectLst/>
                        </a:rPr>
                        <a:t> </a:t>
                      </a:r>
                    </a:p>
                    <a:p>
                      <a:pPr algn="ctr"/>
                      <a:r>
                        <a:rPr lang="en-US" sz="1200">
                          <a:effectLst/>
                        </a:rPr>
                        <a:t>(effective with new knowledge, strong domain adaptation)</a:t>
                      </a:r>
                    </a:p>
                  </a:txBody>
                  <a:tcPr marL="76200" marR="76200" marT="76200" marB="76200" anchor="ctr"/>
                </a:tc>
                <a:extLst>
                  <a:ext uri="{0D108BD9-81ED-4DB2-BD59-A6C34878D82A}">
                    <a16:rowId xmlns:a16="http://schemas.microsoft.com/office/drawing/2014/main" val="570197323"/>
                  </a:ext>
                </a:extLst>
              </a:tr>
            </a:tbl>
          </a:graphicData>
        </a:graphic>
      </p:graphicFrame>
    </p:spTree>
    <p:extLst>
      <p:ext uri="{BB962C8B-B14F-4D97-AF65-F5344CB8AC3E}">
        <p14:creationId xmlns:p14="http://schemas.microsoft.com/office/powerpoint/2010/main" val="1474913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직사각형 17">
            <a:extLst>
              <a:ext uri="{FF2B5EF4-FFF2-40B4-BE49-F238E27FC236}">
                <a16:creationId xmlns:a16="http://schemas.microsoft.com/office/drawing/2014/main" id="{A4962981-0108-4EC4-88D1-7AD27CF305D5}"/>
              </a:ext>
            </a:extLst>
          </p:cNvPr>
          <p:cNvSpPr/>
          <p:nvPr/>
        </p:nvSpPr>
        <p:spPr>
          <a:xfrm>
            <a:off x="349782" y="5315476"/>
            <a:ext cx="11440440" cy="135551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직사각형 26">
            <a:extLst>
              <a:ext uri="{FF2B5EF4-FFF2-40B4-BE49-F238E27FC236}">
                <a16:creationId xmlns:a16="http://schemas.microsoft.com/office/drawing/2014/main" id="{E4491432-D6D6-4196-83C5-6D4CF819A9BB}"/>
              </a:ext>
            </a:extLst>
          </p:cNvPr>
          <p:cNvSpPr/>
          <p:nvPr/>
        </p:nvSpPr>
        <p:spPr>
          <a:xfrm>
            <a:off x="349781" y="301945"/>
            <a:ext cx="5833213" cy="54453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 name="TextBox 1">
            <a:extLst>
              <a:ext uri="{FF2B5EF4-FFF2-40B4-BE49-F238E27FC236}">
                <a16:creationId xmlns:a16="http://schemas.microsoft.com/office/drawing/2014/main" id="{3121AF4D-428A-456C-981A-05CB35A633C5}"/>
              </a:ext>
            </a:extLst>
          </p:cNvPr>
          <p:cNvSpPr txBox="1"/>
          <p:nvPr/>
        </p:nvSpPr>
        <p:spPr>
          <a:xfrm>
            <a:off x="349782" y="323255"/>
            <a:ext cx="5833213" cy="523220"/>
          </a:xfrm>
          <a:prstGeom prst="rect">
            <a:avLst/>
          </a:prstGeom>
          <a:noFill/>
        </p:spPr>
        <p:txBody>
          <a:bodyPr wrap="square" rtlCol="0">
            <a:spAutoFit/>
          </a:bodyPr>
          <a:lstStyle/>
          <a:p>
            <a:r>
              <a:rPr lang="en-US" altLang="ko-KR" sz="2800" b="1">
                <a:latin typeface="+mn-ea"/>
              </a:rPr>
              <a:t>Part B: </a:t>
            </a:r>
            <a:r>
              <a:rPr lang="en-US" altLang="ko-KR" sz="2800" b="1" i="0">
                <a:solidFill>
                  <a:srgbClr val="1F2328"/>
                </a:solidFill>
                <a:effectLst/>
                <a:latin typeface="+mn-ea"/>
              </a:rPr>
              <a:t>Reflection and Discussion</a:t>
            </a:r>
          </a:p>
        </p:txBody>
      </p:sp>
      <p:sp>
        <p:nvSpPr>
          <p:cNvPr id="6" name="TextBox 5">
            <a:extLst>
              <a:ext uri="{FF2B5EF4-FFF2-40B4-BE49-F238E27FC236}">
                <a16:creationId xmlns:a16="http://schemas.microsoft.com/office/drawing/2014/main" id="{CED3226D-B6D9-4342-AD8C-2BB7698FC4D2}"/>
              </a:ext>
            </a:extLst>
          </p:cNvPr>
          <p:cNvSpPr txBox="1"/>
          <p:nvPr/>
        </p:nvSpPr>
        <p:spPr>
          <a:xfrm>
            <a:off x="635977" y="1523538"/>
            <a:ext cx="11154245" cy="3539430"/>
          </a:xfrm>
          <a:prstGeom prst="rect">
            <a:avLst/>
          </a:prstGeom>
          <a:noFill/>
        </p:spPr>
        <p:txBody>
          <a:bodyPr wrap="square" rtlCol="0">
            <a:spAutoFit/>
          </a:bodyPr>
          <a:lstStyle/>
          <a:p>
            <a:r>
              <a:rPr lang="en-US" altLang="ko-KR" sz="1600"/>
              <a:t>A dramatic improvement in model performance was confirmed after incremental fine-tuning.</a:t>
            </a:r>
          </a:p>
          <a:p>
            <a:pPr>
              <a:lnSpc>
                <a:spcPct val="200000"/>
              </a:lnSpc>
              <a:buFont typeface="Arial" panose="020B0604020202020204" pitchFamily="34" charset="0"/>
              <a:buChar char="•"/>
            </a:pPr>
            <a:r>
              <a:rPr lang="en-US" altLang="ko-KR" sz="1600" b="1"/>
              <a:t> Error Elimination &amp; Quality Enhancement:</a:t>
            </a:r>
            <a:endParaRPr lang="en-US" altLang="ko-KR" sz="1600"/>
          </a:p>
          <a:p>
            <a:pPr marL="742950" lvl="1" indent="-285750">
              <a:buFont typeface="Arial" panose="020B0604020202020204" pitchFamily="34" charset="0"/>
              <a:buChar char="•"/>
            </a:pPr>
            <a:r>
              <a:rPr lang="en-US" altLang="ko-KR" sz="1600"/>
              <a:t>The initial model (week5_lora_v01) exhibited severe hallucination issues, frequently mixing irrelevant text such as "ACOLITE" and "geolocation" into its responses.</a:t>
            </a:r>
          </a:p>
          <a:p>
            <a:pPr marL="742950" lvl="1" indent="-285750">
              <a:buFont typeface="Arial" panose="020B0604020202020204" pitchFamily="34" charset="0"/>
              <a:buChar char="•"/>
            </a:pPr>
            <a:r>
              <a:rPr lang="en-US" altLang="ko-KR" sz="1600"/>
              <a:t>The final model (week6_lora_v02) was completely free of these errors. All responses were precisely focused on the question's intent, and both accuracy and detail improved significantly, such as providing specific R² values ('0.73 → 0.81’).</a:t>
            </a:r>
          </a:p>
          <a:p>
            <a:pPr>
              <a:lnSpc>
                <a:spcPct val="200000"/>
              </a:lnSpc>
              <a:buFont typeface="Arial" panose="020B0604020202020204" pitchFamily="34" charset="0"/>
              <a:buChar char="•"/>
            </a:pPr>
            <a:r>
              <a:rPr lang="en-US" altLang="ko-KR" sz="1600" b="1"/>
              <a:t> Achieving 'Generalization' Performance:</a:t>
            </a:r>
            <a:endParaRPr lang="en-US" altLang="ko-KR" sz="1600"/>
          </a:p>
          <a:p>
            <a:pPr marL="742950" lvl="1" indent="-285750">
              <a:buFont typeface="Arial" panose="020B0604020202020204" pitchFamily="34" charset="0"/>
              <a:buChar char="•"/>
            </a:pPr>
            <a:r>
              <a:rPr lang="en-US" altLang="ko-KR" sz="1600"/>
              <a:t>The most significant improvement was in generalization. The final model (week6_lora_v02) was able to answer a novel question (question 5) that was not in the training data. It did this by logically combining learned concepts, such as spatial information, temporal information, and environmental factors.</a:t>
            </a:r>
          </a:p>
          <a:p>
            <a:pPr marL="742950" lvl="1" indent="-285750">
              <a:buFont typeface="Arial" panose="020B0604020202020204" pitchFamily="34" charset="0"/>
              <a:buChar char="•"/>
            </a:pPr>
            <a:r>
              <a:rPr lang="en-US" altLang="ko-KR" sz="1600"/>
              <a:t>In contrast, the initial model (week5_lora_v01) was unable to provide a coherent answer to the same question.</a:t>
            </a:r>
          </a:p>
        </p:txBody>
      </p:sp>
      <p:sp>
        <p:nvSpPr>
          <p:cNvPr id="7" name="TextBox 6">
            <a:extLst>
              <a:ext uri="{FF2B5EF4-FFF2-40B4-BE49-F238E27FC236}">
                <a16:creationId xmlns:a16="http://schemas.microsoft.com/office/drawing/2014/main" id="{D5D9AE5E-C8FC-4D70-B31F-DAB082783234}"/>
              </a:ext>
            </a:extLst>
          </p:cNvPr>
          <p:cNvSpPr txBox="1"/>
          <p:nvPr/>
        </p:nvSpPr>
        <p:spPr>
          <a:xfrm>
            <a:off x="349781" y="1075075"/>
            <a:ext cx="10192196" cy="400110"/>
          </a:xfrm>
          <a:prstGeom prst="rect">
            <a:avLst/>
          </a:prstGeom>
          <a:noFill/>
        </p:spPr>
        <p:txBody>
          <a:bodyPr wrap="square" rtlCol="0">
            <a:spAutoFit/>
          </a:bodyPr>
          <a:lstStyle/>
          <a:p>
            <a:r>
              <a:rPr lang="en-US" altLang="ko-KR" sz="2000" b="1">
                <a:solidFill>
                  <a:schemeClr val="accent1">
                    <a:lumMod val="75000"/>
                  </a:schemeClr>
                </a:solidFill>
              </a:rPr>
              <a:t>1. What improvements or changes were observed after incremental fine-tuning?</a:t>
            </a:r>
            <a:endParaRPr lang="en-US" altLang="ko-KR" sz="2000">
              <a:solidFill>
                <a:schemeClr val="accent1">
                  <a:lumMod val="75000"/>
                </a:schemeClr>
              </a:solidFill>
            </a:endParaRPr>
          </a:p>
        </p:txBody>
      </p:sp>
      <p:sp>
        <p:nvSpPr>
          <p:cNvPr id="14" name="TextBox 13">
            <a:extLst>
              <a:ext uri="{FF2B5EF4-FFF2-40B4-BE49-F238E27FC236}">
                <a16:creationId xmlns:a16="http://schemas.microsoft.com/office/drawing/2014/main" id="{15D11676-0E60-49C1-8BB0-F8057AFC33D2}"/>
              </a:ext>
            </a:extLst>
          </p:cNvPr>
          <p:cNvSpPr txBox="1"/>
          <p:nvPr/>
        </p:nvSpPr>
        <p:spPr>
          <a:xfrm>
            <a:off x="534277" y="5347554"/>
            <a:ext cx="11071450" cy="132343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a:ln>
                  <a:noFill/>
                </a:ln>
                <a:solidFill>
                  <a:schemeClr val="tx1"/>
                </a:solidFill>
                <a:effectLst/>
                <a:latin typeface="Arial" panose="020B0604020202020204" pitchFamily="34" charset="0"/>
              </a:rPr>
              <a:t>증분 파인튜닝을 통해 모델의 성능이 극적으로 개선되는 것을 확인했습니다.</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ko-KR" sz="1000" b="1" i="0" u="none" strike="noStrike" cap="none" normalizeH="0" baseline="0">
                <a:ln>
                  <a:noFill/>
                </a:ln>
                <a:solidFill>
                  <a:schemeClr val="tx1"/>
                </a:solidFill>
                <a:effectLst/>
                <a:latin typeface="Arial" panose="020B0604020202020204" pitchFamily="34" charset="0"/>
              </a:rPr>
              <a:t> </a:t>
            </a:r>
            <a:r>
              <a:rPr kumimoji="0" lang="ko-KR" altLang="ko-KR" sz="1000" b="1" i="0" u="none" strike="noStrike" cap="none" normalizeH="0" baseline="0">
                <a:ln>
                  <a:noFill/>
                </a:ln>
                <a:solidFill>
                  <a:schemeClr val="tx1"/>
                </a:solidFill>
                <a:effectLst/>
                <a:latin typeface="Arial" panose="020B0604020202020204" pitchFamily="34" charset="0"/>
              </a:rPr>
              <a:t>오류 제거 및 답변 품질 향상:</a:t>
            </a:r>
            <a:endParaRPr kumimoji="0" lang="ko-KR" altLang="ko-KR" sz="1000" b="0" i="0" u="none" strike="noStrike" cap="none" normalizeH="0" baseline="0">
              <a:ln>
                <a:noFill/>
              </a:ln>
              <a:solidFill>
                <a:schemeClr val="tx1"/>
              </a:solidFill>
              <a:effectLst/>
              <a:latin typeface="Arial" panose="020B0604020202020204" pitchFamily="34" charset="0"/>
            </a:endParaRPr>
          </a:p>
          <a:p>
            <a:pPr lvl="1" eaLnBrk="0" fontAlgn="base" latinLnBrk="0" hangingPunct="0">
              <a:spcBef>
                <a:spcPct val="0"/>
              </a:spcBef>
              <a:spcAft>
                <a:spcPct val="0"/>
              </a:spcAft>
              <a:buFontTx/>
              <a:buChar char="•"/>
            </a:pPr>
            <a:r>
              <a:rPr kumimoji="0" lang="en-US" altLang="ko-KR" sz="1000" b="0" i="0" u="none" strike="noStrike" cap="none" normalizeH="0" baseline="0">
                <a:ln>
                  <a:noFill/>
                </a:ln>
                <a:solidFill>
                  <a:schemeClr val="tx1"/>
                </a:solidFill>
                <a:effectLst/>
                <a:latin typeface="Arial" panose="020B0604020202020204" pitchFamily="34" charset="0"/>
              </a:rPr>
              <a:t> </a:t>
            </a:r>
            <a:r>
              <a:rPr kumimoji="0" lang="ko-KR" altLang="ko-KR" sz="1000" b="0" i="0" u="none" strike="noStrike" cap="none" normalizeH="0" baseline="0">
                <a:ln>
                  <a:noFill/>
                </a:ln>
                <a:solidFill>
                  <a:schemeClr val="tx1"/>
                </a:solidFill>
                <a:effectLst/>
                <a:latin typeface="Arial" panose="020B0604020202020204" pitchFamily="34" charset="0"/>
              </a:rPr>
              <a:t>초기 학습 모델(</a:t>
            </a:r>
            <a:r>
              <a:rPr lang="en-US" altLang="ko-KR" sz="1000"/>
              <a:t>week5_lora_v01</a:t>
            </a:r>
            <a:r>
              <a:rPr kumimoji="0" lang="ko-KR" altLang="ko-KR" sz="1000" b="0" i="0" u="none" strike="noStrike" cap="none" normalizeH="0" baseline="0">
                <a:ln>
                  <a:noFill/>
                </a:ln>
                <a:solidFill>
                  <a:schemeClr val="tx1"/>
                </a:solidFill>
                <a:effectLst/>
                <a:latin typeface="Arial" panose="020B0604020202020204" pitchFamily="34" charset="0"/>
              </a:rPr>
              <a:t>)은 질문과 관련 없는 "ACOLITE, geolocation" 등의 텍스트를 반복적으로 답변에 섞는 심각한 오류(Hallucination)를 보였습니다.</a:t>
            </a:r>
          </a:p>
          <a:p>
            <a:pPr lvl="1" eaLnBrk="0" fontAlgn="base" latinLnBrk="0" hangingPunct="0">
              <a:spcBef>
                <a:spcPct val="0"/>
              </a:spcBef>
              <a:spcAft>
                <a:spcPct val="0"/>
              </a:spcAft>
              <a:buFontTx/>
              <a:buChar char="•"/>
            </a:pPr>
            <a:r>
              <a:rPr kumimoji="0" lang="en-US" altLang="ko-KR" sz="1000" b="0" i="0" u="none" strike="noStrike" cap="none" normalizeH="0" baseline="0">
                <a:ln>
                  <a:noFill/>
                </a:ln>
                <a:solidFill>
                  <a:schemeClr val="tx1"/>
                </a:solidFill>
                <a:effectLst/>
                <a:latin typeface="Arial" panose="020B0604020202020204" pitchFamily="34" charset="0"/>
              </a:rPr>
              <a:t> </a:t>
            </a:r>
            <a:r>
              <a:rPr kumimoji="0" lang="ko-KR" altLang="ko-KR" sz="1000" b="0" i="0" u="none" strike="noStrike" cap="none" normalizeH="0" baseline="0">
                <a:ln>
                  <a:noFill/>
                </a:ln>
                <a:solidFill>
                  <a:schemeClr val="tx1"/>
                </a:solidFill>
                <a:effectLst/>
                <a:latin typeface="Arial" panose="020B0604020202020204" pitchFamily="34" charset="0"/>
              </a:rPr>
              <a:t>최종 모델(</a:t>
            </a:r>
            <a:r>
              <a:rPr lang="en-US" altLang="ko-KR" sz="1000"/>
              <a:t>week6_lora_v02</a:t>
            </a:r>
            <a:r>
              <a:rPr kumimoji="0" lang="ko-KR" altLang="ko-KR" sz="1000" b="0" i="0" u="none" strike="noStrike" cap="none" normalizeH="0" baseline="0">
                <a:ln>
                  <a:noFill/>
                </a:ln>
                <a:solidFill>
                  <a:schemeClr val="tx1"/>
                </a:solidFill>
                <a:effectLst/>
                <a:latin typeface="Arial" panose="020B0604020202020204" pitchFamily="34" charset="0"/>
              </a:rPr>
              <a:t>)은 모든 답변이 질문의 의도에 정확히 집중했으며, R² 값을 '0.73 → 0.81'처럼 구체적인 수치로 제시하는 등 정확도</a:t>
            </a:r>
            <a:r>
              <a:rPr kumimoji="0" lang="ko-KR" altLang="en-US" sz="1000" b="0" i="0" u="none" strike="noStrike" cap="none" normalizeH="0" baseline="0">
                <a:ln>
                  <a:noFill/>
                </a:ln>
                <a:solidFill>
                  <a:schemeClr val="tx1"/>
                </a:solidFill>
                <a:effectLst/>
                <a:latin typeface="Arial" panose="020B0604020202020204" pitchFamily="34" charset="0"/>
              </a:rPr>
              <a:t>와 디테일</a:t>
            </a:r>
            <a:r>
              <a:rPr kumimoji="0" lang="ko-KR" altLang="ko-KR" sz="1000" b="0" i="0" u="none" strike="noStrike" cap="none" normalizeH="0" baseline="0">
                <a:ln>
                  <a:noFill/>
                </a:ln>
                <a:solidFill>
                  <a:schemeClr val="tx1"/>
                </a:solidFill>
                <a:effectLst/>
                <a:latin typeface="Arial" panose="020B0604020202020204" pitchFamily="34" charset="0"/>
              </a:rPr>
              <a:t>이 대폭 향상되었습니다.</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ko-KR" sz="1000" b="1">
                <a:latin typeface="Arial" panose="020B0604020202020204" pitchFamily="34" charset="0"/>
              </a:rPr>
              <a:t> </a:t>
            </a:r>
            <a:r>
              <a:rPr kumimoji="0" lang="ko-KR" altLang="ko-KR" sz="1000" b="1" i="0" u="none" strike="noStrike" cap="none" normalizeH="0" baseline="0">
                <a:ln>
                  <a:noFill/>
                </a:ln>
                <a:solidFill>
                  <a:schemeClr val="tx1"/>
                </a:solidFill>
                <a:effectLst/>
                <a:latin typeface="Arial" panose="020B0604020202020204" pitchFamily="34" charset="0"/>
              </a:rPr>
              <a:t>일반화(Generalization) 성능 확보:</a:t>
            </a:r>
            <a:endParaRPr kumimoji="0" lang="ko-KR" altLang="ko-KR" sz="1000" b="0" i="0" u="none" strike="noStrike" cap="none" normalizeH="0" baseline="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ko-KR" sz="1000" b="0" i="0" u="none" strike="noStrike" cap="none" normalizeH="0" baseline="0">
                <a:ln>
                  <a:noFill/>
                </a:ln>
                <a:solidFill>
                  <a:schemeClr val="tx1"/>
                </a:solidFill>
                <a:effectLst/>
                <a:latin typeface="Arial" panose="020B0604020202020204" pitchFamily="34" charset="0"/>
              </a:rPr>
              <a:t> </a:t>
            </a:r>
            <a:r>
              <a:rPr kumimoji="0" lang="ko-KR" altLang="ko-KR" sz="1000" b="0" i="0" u="none" strike="noStrike" cap="none" normalizeH="0" baseline="0">
                <a:ln>
                  <a:noFill/>
                </a:ln>
                <a:solidFill>
                  <a:schemeClr val="tx1"/>
                </a:solidFill>
                <a:effectLst/>
                <a:latin typeface="Arial" panose="020B0604020202020204" pitchFamily="34" charset="0"/>
              </a:rPr>
              <a:t>가장 큰 개선점은 '일반화 성능'입니다. 최종 모델은 학습 데이터에 없던 새로운 질문(계절성 질문)에 대해서도, 배운 개념(공간 정보, 시간 정보, 환경 요인)을 스스로 조합하여 </a:t>
            </a:r>
            <a:r>
              <a:rPr kumimoji="0" lang="ko-KR" altLang="ko-KR" sz="1000" b="1" i="0" u="none" strike="noStrike" cap="none" normalizeH="0" baseline="0">
                <a:ln>
                  <a:noFill/>
                </a:ln>
                <a:solidFill>
                  <a:schemeClr val="tx1"/>
                </a:solidFill>
                <a:effectLst/>
                <a:latin typeface="Arial" panose="020B0604020202020204" pitchFamily="34" charset="0"/>
              </a:rPr>
              <a:t>논리적이고 완벽한 새 답변을 생성</a:t>
            </a:r>
            <a:r>
              <a:rPr kumimoji="0" lang="ko-KR" altLang="ko-KR" sz="1000" b="0" i="0" u="none" strike="noStrike" cap="none" normalizeH="0" baseline="0">
                <a:ln>
                  <a:noFill/>
                </a:ln>
                <a:solidFill>
                  <a:schemeClr val="tx1"/>
                </a:solidFill>
                <a:effectLst/>
                <a:latin typeface="Arial" panose="020B0604020202020204" pitchFamily="34" charset="0"/>
              </a:rPr>
              <a:t>해냈습니다.</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ko-KR" sz="1000" b="0" i="0" u="none" strike="noStrike" cap="none" normalizeH="0" baseline="0">
                <a:ln>
                  <a:noFill/>
                </a:ln>
                <a:solidFill>
                  <a:schemeClr val="tx1"/>
                </a:solidFill>
                <a:effectLst/>
                <a:latin typeface="Arial" panose="020B0604020202020204" pitchFamily="34" charset="0"/>
              </a:rPr>
              <a:t> </a:t>
            </a:r>
            <a:r>
              <a:rPr kumimoji="0" lang="ko-KR" altLang="ko-KR" sz="1000" b="0" i="0" u="none" strike="noStrike" cap="none" normalizeH="0" baseline="0">
                <a:ln>
                  <a:noFill/>
                </a:ln>
                <a:solidFill>
                  <a:schemeClr val="tx1"/>
                </a:solidFill>
                <a:effectLst/>
                <a:latin typeface="Arial" panose="020B0604020202020204" pitchFamily="34" charset="0"/>
              </a:rPr>
              <a:t>반면, </a:t>
            </a:r>
            <a:r>
              <a:rPr kumimoji="0" lang="ko-KR" altLang="en-US" sz="1000" b="0" i="0" u="none" strike="noStrike" cap="none" normalizeH="0" baseline="0">
                <a:ln>
                  <a:noFill/>
                </a:ln>
                <a:solidFill>
                  <a:schemeClr val="tx1"/>
                </a:solidFill>
                <a:effectLst/>
                <a:latin typeface="Arial" panose="020B0604020202020204" pitchFamily="34" charset="0"/>
              </a:rPr>
              <a:t>이전</a:t>
            </a:r>
            <a:r>
              <a:rPr kumimoji="0" lang="ko-KR" altLang="ko-KR" sz="1000" b="0" i="0" u="none" strike="noStrike" cap="none" normalizeH="0" baseline="0">
                <a:ln>
                  <a:noFill/>
                </a:ln>
                <a:solidFill>
                  <a:schemeClr val="tx1"/>
                </a:solidFill>
                <a:effectLst/>
                <a:latin typeface="Arial" panose="020B0604020202020204" pitchFamily="34" charset="0"/>
              </a:rPr>
              <a:t> 모델은 동일한 질문에 대해 제대로 된 답변을 하지 못했습니다.</a:t>
            </a:r>
          </a:p>
        </p:txBody>
      </p:sp>
    </p:spTree>
    <p:extLst>
      <p:ext uri="{BB962C8B-B14F-4D97-AF65-F5344CB8AC3E}">
        <p14:creationId xmlns:p14="http://schemas.microsoft.com/office/powerpoint/2010/main" val="32229742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직사각형 26">
            <a:extLst>
              <a:ext uri="{FF2B5EF4-FFF2-40B4-BE49-F238E27FC236}">
                <a16:creationId xmlns:a16="http://schemas.microsoft.com/office/drawing/2014/main" id="{E4491432-D6D6-4196-83C5-6D4CF819A9BB}"/>
              </a:ext>
            </a:extLst>
          </p:cNvPr>
          <p:cNvSpPr/>
          <p:nvPr/>
        </p:nvSpPr>
        <p:spPr>
          <a:xfrm>
            <a:off x="349781" y="301945"/>
            <a:ext cx="5833213" cy="54453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 name="TextBox 1">
            <a:extLst>
              <a:ext uri="{FF2B5EF4-FFF2-40B4-BE49-F238E27FC236}">
                <a16:creationId xmlns:a16="http://schemas.microsoft.com/office/drawing/2014/main" id="{3121AF4D-428A-456C-981A-05CB35A633C5}"/>
              </a:ext>
            </a:extLst>
          </p:cNvPr>
          <p:cNvSpPr txBox="1"/>
          <p:nvPr/>
        </p:nvSpPr>
        <p:spPr>
          <a:xfrm>
            <a:off x="349782" y="323255"/>
            <a:ext cx="5833213" cy="523220"/>
          </a:xfrm>
          <a:prstGeom prst="rect">
            <a:avLst/>
          </a:prstGeom>
          <a:noFill/>
        </p:spPr>
        <p:txBody>
          <a:bodyPr wrap="square" rtlCol="0">
            <a:spAutoFit/>
          </a:bodyPr>
          <a:lstStyle/>
          <a:p>
            <a:r>
              <a:rPr lang="en-US" altLang="ko-KR" sz="2800" b="1">
                <a:latin typeface="+mn-ea"/>
              </a:rPr>
              <a:t>Part B: </a:t>
            </a:r>
            <a:r>
              <a:rPr lang="en-US" altLang="ko-KR" sz="2800" b="1" i="0">
                <a:solidFill>
                  <a:srgbClr val="1F2328"/>
                </a:solidFill>
                <a:effectLst/>
                <a:latin typeface="+mn-ea"/>
              </a:rPr>
              <a:t>Reflection and Discussion</a:t>
            </a:r>
          </a:p>
        </p:txBody>
      </p:sp>
      <p:sp>
        <p:nvSpPr>
          <p:cNvPr id="4" name="직사각형 3">
            <a:extLst>
              <a:ext uri="{FF2B5EF4-FFF2-40B4-BE49-F238E27FC236}">
                <a16:creationId xmlns:a16="http://schemas.microsoft.com/office/drawing/2014/main" id="{376494BC-98EC-4F7E-A8DE-0C702FCEF968}"/>
              </a:ext>
            </a:extLst>
          </p:cNvPr>
          <p:cNvSpPr/>
          <p:nvPr/>
        </p:nvSpPr>
        <p:spPr>
          <a:xfrm>
            <a:off x="349781" y="5497738"/>
            <a:ext cx="11388443" cy="112304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TextBox 5">
            <a:extLst>
              <a:ext uri="{FF2B5EF4-FFF2-40B4-BE49-F238E27FC236}">
                <a16:creationId xmlns:a16="http://schemas.microsoft.com/office/drawing/2014/main" id="{E5678D9C-D8A6-48D2-B936-E4BFCDDECC9D}"/>
              </a:ext>
            </a:extLst>
          </p:cNvPr>
          <p:cNvSpPr txBox="1"/>
          <p:nvPr/>
        </p:nvSpPr>
        <p:spPr>
          <a:xfrm>
            <a:off x="349781" y="1426767"/>
            <a:ext cx="10192196" cy="400110"/>
          </a:xfrm>
          <a:prstGeom prst="rect">
            <a:avLst/>
          </a:prstGeom>
          <a:noFill/>
        </p:spPr>
        <p:txBody>
          <a:bodyPr wrap="square" rtlCol="0">
            <a:spAutoFit/>
          </a:bodyPr>
          <a:lstStyle/>
          <a:p>
            <a:r>
              <a:rPr lang="en-US" altLang="ko-KR" sz="2000" b="1">
                <a:solidFill>
                  <a:schemeClr val="accent1">
                    <a:lumMod val="75000"/>
                  </a:schemeClr>
                </a:solidFill>
              </a:rPr>
              <a:t>2. How did the replay data help retain previous knowledge?</a:t>
            </a:r>
            <a:endParaRPr lang="en-US" altLang="ko-KR" sz="2000">
              <a:solidFill>
                <a:schemeClr val="accent1">
                  <a:lumMod val="75000"/>
                </a:schemeClr>
              </a:solidFill>
            </a:endParaRPr>
          </a:p>
        </p:txBody>
      </p:sp>
      <p:sp>
        <p:nvSpPr>
          <p:cNvPr id="3" name="TextBox 2">
            <a:extLst>
              <a:ext uri="{FF2B5EF4-FFF2-40B4-BE49-F238E27FC236}">
                <a16:creationId xmlns:a16="http://schemas.microsoft.com/office/drawing/2014/main" id="{E005ADAB-4AAB-4148-B00E-90AF0B73826C}"/>
              </a:ext>
            </a:extLst>
          </p:cNvPr>
          <p:cNvSpPr txBox="1"/>
          <p:nvPr/>
        </p:nvSpPr>
        <p:spPr>
          <a:xfrm>
            <a:off x="687801" y="1626822"/>
            <a:ext cx="10990385" cy="2062103"/>
          </a:xfrm>
          <a:prstGeom prst="rect">
            <a:avLst/>
          </a:prstGeom>
          <a:noFill/>
        </p:spPr>
        <p:txBody>
          <a:bodyPr wrap="square" rtlCol="0">
            <a:spAutoFit/>
          </a:bodyPr>
          <a:lstStyle/>
          <a:p>
            <a:pPr>
              <a:lnSpc>
                <a:spcPct val="300000"/>
              </a:lnSpc>
            </a:pPr>
            <a:r>
              <a:rPr lang="en-US" altLang="ko-KR" sz="1600"/>
              <a:t>The replay data (20% of the Week 5 dataset) played a critical role in preventing "</a:t>
            </a:r>
            <a:r>
              <a:rPr lang="en-US" altLang="ko-KR" sz="1600" b="1"/>
              <a:t>Catastrophic Forgetting”</a:t>
            </a:r>
            <a:r>
              <a:rPr lang="en-US" altLang="ko-KR" sz="1600"/>
              <a:t>.</a:t>
            </a:r>
          </a:p>
          <a:p>
            <a:pPr marL="285750" indent="-285750">
              <a:buFont typeface="Arial" panose="020B0604020202020204" pitchFamily="34" charset="0"/>
              <a:buChar char="•"/>
            </a:pPr>
            <a:r>
              <a:rPr lang="en-US" altLang="ko-KR" sz="1600"/>
              <a:t>Without the replay set, there was a high risk that the model would overfit exclusively on the new data, causing it to forget the general knowledge acquired in Week 5.</a:t>
            </a:r>
          </a:p>
          <a:p>
            <a:pPr marL="285750" indent="-285750">
              <a:buFont typeface="Arial" panose="020B0604020202020204" pitchFamily="34" charset="0"/>
              <a:buChar char="•"/>
            </a:pPr>
            <a:r>
              <a:rPr lang="en-US" altLang="ko-KR" sz="1600"/>
              <a:t>The replay set acted as a ‘safety net’, continuously reminding the model of the Week 5 knowledge while it was intensively learning the new Week 6 knowledge.</a:t>
            </a:r>
          </a:p>
          <a:p>
            <a:pPr marL="285750" indent="-285750">
              <a:buFont typeface="Arial" panose="020B0604020202020204" pitchFamily="34" charset="0"/>
              <a:buChar char="•"/>
            </a:pPr>
            <a:r>
              <a:rPr lang="en-US" altLang="ko-KR" sz="1600"/>
              <a:t>This allowed the model to build new, specialized knowledge on top of its previous foundation without losing it.</a:t>
            </a:r>
          </a:p>
        </p:txBody>
      </p:sp>
      <p:sp>
        <p:nvSpPr>
          <p:cNvPr id="9" name="Rectangle 1">
            <a:extLst>
              <a:ext uri="{FF2B5EF4-FFF2-40B4-BE49-F238E27FC236}">
                <a16:creationId xmlns:a16="http://schemas.microsoft.com/office/drawing/2014/main" id="{B0B25129-9A34-41F0-9A40-9D0392E7B230}"/>
              </a:ext>
            </a:extLst>
          </p:cNvPr>
          <p:cNvSpPr>
            <a:spLocks noChangeArrowheads="1"/>
          </p:cNvSpPr>
          <p:nvPr/>
        </p:nvSpPr>
        <p:spPr bwMode="auto">
          <a:xfrm>
            <a:off x="600806" y="5628375"/>
            <a:ext cx="8721969"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1" i="0" u="none" strike="noStrike" cap="none" normalizeH="0" baseline="0">
                <a:ln>
                  <a:noFill/>
                </a:ln>
                <a:solidFill>
                  <a:schemeClr val="tx1"/>
                </a:solidFill>
                <a:effectLst/>
                <a:latin typeface="Arial" panose="020B0604020202020204" pitchFamily="34" charset="0"/>
              </a:rPr>
              <a:t>2. 리플레이 데이터가 이전 지식을 유지하는 데 어떻게 도움이 되었나요?</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a:ln>
                  <a:noFill/>
                </a:ln>
                <a:solidFill>
                  <a:schemeClr val="tx1"/>
                </a:solidFill>
                <a:effectLst/>
                <a:latin typeface="Arial" panose="020B0604020202020204" pitchFamily="34" charset="0"/>
              </a:rPr>
              <a:t>리플레이 데이터(Week 5 데이터의 20%)는 </a:t>
            </a:r>
            <a:r>
              <a:rPr kumimoji="0" lang="ko-KR" altLang="ko-KR" sz="1000" b="1" i="0" u="none" strike="noStrike" cap="none" normalizeH="0" baseline="0">
                <a:ln>
                  <a:noFill/>
                </a:ln>
                <a:solidFill>
                  <a:schemeClr val="tx1"/>
                </a:solidFill>
                <a:effectLst/>
                <a:latin typeface="Arial" panose="020B0604020202020204" pitchFamily="34" charset="0"/>
              </a:rPr>
              <a:t>'파국적 망각(Catastrophic Forgetting)'을 방지</a:t>
            </a:r>
            <a:r>
              <a:rPr kumimoji="0" lang="ko-KR" altLang="ko-KR" sz="1000" b="0" i="0" u="none" strike="noStrike" cap="none" normalizeH="0" baseline="0">
                <a:ln>
                  <a:noFill/>
                </a:ln>
                <a:solidFill>
                  <a:schemeClr val="tx1"/>
                </a:solidFill>
                <a:effectLst/>
                <a:latin typeface="Arial" panose="020B0604020202020204" pitchFamily="34" charset="0"/>
              </a:rPr>
              <a:t>하는 데 핵심적인 역할을 했습니다.</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ko-KR" sz="1000" b="0" i="0" u="none" strike="noStrike" cap="none" normalizeH="0" baseline="0">
                <a:ln>
                  <a:noFill/>
                </a:ln>
                <a:solidFill>
                  <a:schemeClr val="tx1"/>
                </a:solidFill>
                <a:effectLst/>
                <a:latin typeface="Arial" panose="020B0604020202020204" pitchFamily="34" charset="0"/>
              </a:rPr>
              <a:t> </a:t>
            </a:r>
            <a:r>
              <a:rPr kumimoji="0" lang="ko-KR" altLang="ko-KR" sz="1000" b="0" i="0" u="none" strike="noStrike" cap="none" normalizeH="0" baseline="0">
                <a:ln>
                  <a:noFill/>
                </a:ln>
                <a:solidFill>
                  <a:schemeClr val="tx1"/>
                </a:solidFill>
                <a:effectLst/>
                <a:latin typeface="Arial" panose="020B0604020202020204" pitchFamily="34" charset="0"/>
              </a:rPr>
              <a:t>만약 리플레이 셋이 없었다면, 모델이 이 신규 데이터에만 과적합(Overfitting)되어 Week 5에서 배운 전반적인 지식을 잊어버렸을 위험이 큽니다.</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ko-KR" sz="1000" b="0" i="0" u="none" strike="noStrike" cap="none" normalizeH="0" baseline="0">
                <a:ln>
                  <a:noFill/>
                </a:ln>
                <a:solidFill>
                  <a:schemeClr val="tx1"/>
                </a:solidFill>
                <a:effectLst/>
                <a:latin typeface="Arial" panose="020B0604020202020204" pitchFamily="34" charset="0"/>
              </a:rPr>
              <a:t> </a:t>
            </a:r>
            <a:r>
              <a:rPr kumimoji="0" lang="ko-KR" altLang="ko-KR" sz="1000" b="0" i="0" u="none" strike="noStrike" cap="none" normalizeH="0" baseline="0">
                <a:ln>
                  <a:noFill/>
                </a:ln>
                <a:solidFill>
                  <a:schemeClr val="tx1"/>
                </a:solidFill>
                <a:effectLst/>
                <a:latin typeface="Arial" panose="020B0604020202020204" pitchFamily="34" charset="0"/>
              </a:rPr>
              <a:t>리플레이 셋은 Week 6</a:t>
            </a:r>
            <a:r>
              <a:rPr lang="en-US" altLang="ko-KR" sz="1000">
                <a:latin typeface="Arial" panose="020B0604020202020204" pitchFamily="34" charset="0"/>
              </a:rPr>
              <a:t> </a:t>
            </a:r>
            <a:r>
              <a:rPr kumimoji="0" lang="ko-KR" altLang="ko-KR" sz="1000" b="0" i="0" u="none" strike="noStrike" cap="none" normalizeH="0" baseline="0">
                <a:ln>
                  <a:noFill/>
                </a:ln>
                <a:solidFill>
                  <a:schemeClr val="tx1"/>
                </a:solidFill>
                <a:effectLst/>
                <a:latin typeface="Arial" panose="020B0604020202020204" pitchFamily="34" charset="0"/>
              </a:rPr>
              <a:t>지식을 집중적으로 배우는 중에도 Week 5의 지식을 계속해서 상기시키는 </a:t>
            </a:r>
            <a:r>
              <a:rPr kumimoji="0" lang="ko-KR" altLang="ko-KR" sz="1000" b="1" i="0" u="none" strike="noStrike" cap="none" normalizeH="0" baseline="0">
                <a:ln>
                  <a:noFill/>
                </a:ln>
                <a:solidFill>
                  <a:schemeClr val="tx1"/>
                </a:solidFill>
                <a:effectLst/>
                <a:latin typeface="Arial" panose="020B0604020202020204" pitchFamily="34" charset="0"/>
              </a:rPr>
              <a:t>‘안전</a:t>
            </a:r>
            <a:r>
              <a:rPr kumimoji="0" lang="en-US" altLang="ko-KR" sz="1000" b="1" i="0" u="none" strike="noStrike" cap="none" normalizeH="0" baseline="0">
                <a:ln>
                  <a:noFill/>
                </a:ln>
                <a:solidFill>
                  <a:schemeClr val="tx1"/>
                </a:solidFill>
                <a:effectLst/>
                <a:latin typeface="Arial" panose="020B0604020202020204" pitchFamily="34" charset="0"/>
              </a:rPr>
              <a:t> </a:t>
            </a:r>
            <a:r>
              <a:rPr kumimoji="0" lang="ko-KR" altLang="ko-KR" sz="1000" b="1" i="0" u="none" strike="noStrike" cap="none" normalizeH="0" baseline="0">
                <a:ln>
                  <a:noFill/>
                </a:ln>
                <a:solidFill>
                  <a:schemeClr val="tx1"/>
                </a:solidFill>
                <a:effectLst/>
                <a:latin typeface="Arial" panose="020B0604020202020204" pitchFamily="34" charset="0"/>
              </a:rPr>
              <a:t>장치'</a:t>
            </a:r>
            <a:r>
              <a:rPr kumimoji="0" lang="ko-KR" altLang="ko-KR" sz="1000" b="0" i="0" u="none" strike="noStrike" cap="none" normalizeH="0" baseline="0">
                <a:ln>
                  <a:noFill/>
                </a:ln>
                <a:solidFill>
                  <a:schemeClr val="tx1"/>
                </a:solidFill>
                <a:effectLst/>
                <a:latin typeface="Arial" panose="020B0604020202020204" pitchFamily="34" charset="0"/>
              </a:rPr>
              <a:t> 역할을 했습니다.</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ko-KR" sz="1000" b="0" i="0" u="none" strike="noStrike" cap="none" normalizeH="0" baseline="0">
                <a:ln>
                  <a:noFill/>
                </a:ln>
                <a:solidFill>
                  <a:schemeClr val="tx1"/>
                </a:solidFill>
                <a:effectLst/>
                <a:latin typeface="Arial" panose="020B0604020202020204" pitchFamily="34" charset="0"/>
              </a:rPr>
              <a:t> </a:t>
            </a:r>
            <a:r>
              <a:rPr kumimoji="0" lang="ko-KR" altLang="ko-KR" sz="1000" b="0" i="0" u="none" strike="noStrike" cap="none" normalizeH="0" baseline="0">
                <a:ln>
                  <a:noFill/>
                </a:ln>
                <a:solidFill>
                  <a:schemeClr val="tx1"/>
                </a:solidFill>
                <a:effectLst/>
                <a:latin typeface="Arial" panose="020B0604020202020204" pitchFamily="34" charset="0"/>
              </a:rPr>
              <a:t>이를 통해 모델은 이전 지식을 잃지 않으면서, 그 위에 새로운 전문 지식을 안정적으로 쌓아 올릴 수 있었습니다.</a:t>
            </a:r>
          </a:p>
        </p:txBody>
      </p:sp>
    </p:spTree>
    <p:extLst>
      <p:ext uri="{BB962C8B-B14F-4D97-AF65-F5344CB8AC3E}">
        <p14:creationId xmlns:p14="http://schemas.microsoft.com/office/powerpoint/2010/main" val="11949062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직사각형 26">
            <a:extLst>
              <a:ext uri="{FF2B5EF4-FFF2-40B4-BE49-F238E27FC236}">
                <a16:creationId xmlns:a16="http://schemas.microsoft.com/office/drawing/2014/main" id="{E4491432-D6D6-4196-83C5-6D4CF819A9BB}"/>
              </a:ext>
            </a:extLst>
          </p:cNvPr>
          <p:cNvSpPr/>
          <p:nvPr/>
        </p:nvSpPr>
        <p:spPr>
          <a:xfrm>
            <a:off x="349781" y="301945"/>
            <a:ext cx="5833213" cy="54453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2" name="TextBox 1">
            <a:extLst>
              <a:ext uri="{FF2B5EF4-FFF2-40B4-BE49-F238E27FC236}">
                <a16:creationId xmlns:a16="http://schemas.microsoft.com/office/drawing/2014/main" id="{3121AF4D-428A-456C-981A-05CB35A633C5}"/>
              </a:ext>
            </a:extLst>
          </p:cNvPr>
          <p:cNvSpPr txBox="1"/>
          <p:nvPr/>
        </p:nvSpPr>
        <p:spPr>
          <a:xfrm>
            <a:off x="349782" y="323255"/>
            <a:ext cx="5833213" cy="523220"/>
          </a:xfrm>
          <a:prstGeom prst="rect">
            <a:avLst/>
          </a:prstGeom>
          <a:noFill/>
        </p:spPr>
        <p:txBody>
          <a:bodyPr wrap="square" rtlCol="0">
            <a:spAutoFit/>
          </a:bodyPr>
          <a:lstStyle/>
          <a:p>
            <a:r>
              <a:rPr lang="en-US" altLang="ko-KR" sz="2800" b="1">
                <a:latin typeface="+mn-ea"/>
              </a:rPr>
              <a:t>Part B: </a:t>
            </a:r>
            <a:r>
              <a:rPr lang="en-US" altLang="ko-KR" sz="2800" b="1" i="0">
                <a:solidFill>
                  <a:srgbClr val="1F2328"/>
                </a:solidFill>
                <a:effectLst/>
                <a:latin typeface="+mn-ea"/>
              </a:rPr>
              <a:t>Reflection and Discussion</a:t>
            </a:r>
          </a:p>
        </p:txBody>
      </p:sp>
      <p:sp>
        <p:nvSpPr>
          <p:cNvPr id="4" name="직사각형 3">
            <a:extLst>
              <a:ext uri="{FF2B5EF4-FFF2-40B4-BE49-F238E27FC236}">
                <a16:creationId xmlns:a16="http://schemas.microsoft.com/office/drawing/2014/main" id="{376494BC-98EC-4F7E-A8DE-0C702FCEF968}"/>
              </a:ext>
            </a:extLst>
          </p:cNvPr>
          <p:cNvSpPr/>
          <p:nvPr/>
        </p:nvSpPr>
        <p:spPr>
          <a:xfrm>
            <a:off x="349781" y="5497738"/>
            <a:ext cx="11388443" cy="112304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TextBox 5">
            <a:extLst>
              <a:ext uri="{FF2B5EF4-FFF2-40B4-BE49-F238E27FC236}">
                <a16:creationId xmlns:a16="http://schemas.microsoft.com/office/drawing/2014/main" id="{E5678D9C-D8A6-48D2-B936-E4BFCDDECC9D}"/>
              </a:ext>
            </a:extLst>
          </p:cNvPr>
          <p:cNvSpPr txBox="1"/>
          <p:nvPr/>
        </p:nvSpPr>
        <p:spPr>
          <a:xfrm>
            <a:off x="349781" y="1115475"/>
            <a:ext cx="10192196" cy="400110"/>
          </a:xfrm>
          <a:prstGeom prst="rect">
            <a:avLst/>
          </a:prstGeom>
          <a:noFill/>
        </p:spPr>
        <p:txBody>
          <a:bodyPr wrap="square" rtlCol="0">
            <a:spAutoFit/>
          </a:bodyPr>
          <a:lstStyle/>
          <a:p>
            <a:r>
              <a:rPr lang="en-US" altLang="ko-KR" sz="2000" b="1">
                <a:solidFill>
                  <a:schemeClr val="accent1">
                    <a:lumMod val="75000"/>
                  </a:schemeClr>
                </a:solidFill>
              </a:rPr>
              <a:t>3. What challenges occurred when merging replay data with new data?</a:t>
            </a:r>
            <a:endParaRPr lang="en-US" altLang="ko-KR" sz="2000">
              <a:solidFill>
                <a:schemeClr val="accent1">
                  <a:lumMod val="75000"/>
                </a:schemeClr>
              </a:solidFill>
            </a:endParaRPr>
          </a:p>
        </p:txBody>
      </p:sp>
      <p:sp>
        <p:nvSpPr>
          <p:cNvPr id="5" name="TextBox 4">
            <a:extLst>
              <a:ext uri="{FF2B5EF4-FFF2-40B4-BE49-F238E27FC236}">
                <a16:creationId xmlns:a16="http://schemas.microsoft.com/office/drawing/2014/main" id="{C4E6A41C-B78E-42C8-B501-E0A4E5B64CBF}"/>
              </a:ext>
            </a:extLst>
          </p:cNvPr>
          <p:cNvSpPr txBox="1"/>
          <p:nvPr/>
        </p:nvSpPr>
        <p:spPr>
          <a:xfrm>
            <a:off x="729761" y="1629262"/>
            <a:ext cx="10401300" cy="2158604"/>
          </a:xfrm>
          <a:prstGeom prst="rect">
            <a:avLst/>
          </a:prstGeom>
          <a:noFill/>
        </p:spPr>
        <p:txBody>
          <a:bodyPr wrap="square" rtlCol="0">
            <a:spAutoFit/>
          </a:bodyPr>
          <a:lstStyle/>
          <a:p>
            <a:r>
              <a:rPr lang="en-US" altLang="ko-KR" sz="1600"/>
              <a:t>By using a Python script to automate this process, we effectively prevented potential challenges that would have arisen from manual work. For example, the script's automated validation and shuffle functions preemptively blocked issues such as:</a:t>
            </a:r>
          </a:p>
          <a:p>
            <a:pPr>
              <a:lnSpc>
                <a:spcPct val="200000"/>
              </a:lnSpc>
              <a:buFont typeface="Arial" panose="020B0604020202020204" pitchFamily="34" charset="0"/>
              <a:buChar char="•"/>
            </a:pPr>
            <a:r>
              <a:rPr lang="en-US" altLang="ko-KR" sz="1600"/>
              <a:t> JSON formatting errors.</a:t>
            </a:r>
          </a:p>
          <a:p>
            <a:pPr>
              <a:lnSpc>
                <a:spcPct val="150000"/>
              </a:lnSpc>
              <a:buFont typeface="Arial" panose="020B0604020202020204" pitchFamily="34" charset="0"/>
              <a:buChar char="•"/>
            </a:pPr>
            <a:r>
              <a:rPr lang="en-US" altLang="ko-KR" sz="1600"/>
              <a:t> Training failures due to missing required keys.</a:t>
            </a:r>
          </a:p>
          <a:p>
            <a:pPr>
              <a:lnSpc>
                <a:spcPct val="200000"/>
              </a:lnSpc>
              <a:buFont typeface="Arial" panose="020B0604020202020204" pitchFamily="34" charset="0"/>
              <a:buChar char="•"/>
            </a:pPr>
            <a:r>
              <a:rPr lang="en-US" altLang="ko-KR" sz="1600"/>
              <a:t> Data order bias that could result from manually merging the files.</a:t>
            </a:r>
          </a:p>
        </p:txBody>
      </p:sp>
      <p:sp>
        <p:nvSpPr>
          <p:cNvPr id="8" name="Rectangle 1">
            <a:extLst>
              <a:ext uri="{FF2B5EF4-FFF2-40B4-BE49-F238E27FC236}">
                <a16:creationId xmlns:a16="http://schemas.microsoft.com/office/drawing/2014/main" id="{6A811CF2-A9BC-4DAD-A1A1-659CE046D640}"/>
              </a:ext>
            </a:extLst>
          </p:cNvPr>
          <p:cNvSpPr>
            <a:spLocks noChangeArrowheads="1"/>
          </p:cNvSpPr>
          <p:nvPr/>
        </p:nvSpPr>
        <p:spPr bwMode="auto">
          <a:xfrm>
            <a:off x="453776" y="5551429"/>
            <a:ext cx="10867292"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1" i="0" u="none" strike="noStrike" cap="none" normalizeH="0" baseline="0">
                <a:ln>
                  <a:noFill/>
                </a:ln>
                <a:solidFill>
                  <a:schemeClr val="tx1"/>
                </a:solidFill>
                <a:effectLst/>
                <a:latin typeface="Arial" panose="020B0604020202020204" pitchFamily="34" charset="0"/>
              </a:rPr>
              <a:t>3. 리플레이 데이터를 새 데이터와 병합할 때 발생한 어려움은 무엇이었나요?</a:t>
            </a: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a:ln>
                  <a:noFill/>
                </a:ln>
                <a:solidFill>
                  <a:schemeClr val="tx1"/>
                </a:solidFill>
                <a:effectLst/>
                <a:latin typeface="Arial" panose="020B0604020202020204" pitchFamily="34" charset="0"/>
              </a:rPr>
              <a:t>Python 스크립트를 사용하여 이 과정을 </a:t>
            </a:r>
            <a:r>
              <a:rPr kumimoji="0" lang="ko-KR" altLang="ko-KR" sz="1000" b="1" i="0" u="none" strike="noStrike" cap="none" normalizeH="0" baseline="0">
                <a:ln>
                  <a:noFill/>
                </a:ln>
                <a:solidFill>
                  <a:schemeClr val="tx1"/>
                </a:solidFill>
                <a:effectLst/>
                <a:latin typeface="Arial" panose="020B0604020202020204" pitchFamily="34" charset="0"/>
              </a:rPr>
              <a:t>자동화했기 때문에 수동 작업 시 발생할 수 있는 잠재적인 어려움들을 효과적으로 방지</a:t>
            </a:r>
            <a:r>
              <a:rPr kumimoji="0" lang="ko-KR" altLang="ko-KR" sz="1000" b="0" i="0" u="none" strike="noStrike" cap="none" normalizeH="0" baseline="0">
                <a:ln>
                  <a:noFill/>
                </a:ln>
                <a:solidFill>
                  <a:schemeClr val="tx1"/>
                </a:solidFill>
                <a:effectLst/>
                <a:latin typeface="Arial" panose="020B0604020202020204" pitchFamily="34" charset="0"/>
              </a:rPr>
              <a:t>할 수 있었습니다.</a:t>
            </a:r>
            <a:r>
              <a:rPr kumimoji="0" lang="en-US" altLang="ko-KR" sz="1000" b="0" i="0" u="none" strike="noStrike" cap="none" normalizeH="0" baseline="0">
                <a:ln>
                  <a:noFill/>
                </a:ln>
                <a:solidFill>
                  <a:schemeClr val="tx1"/>
                </a:solidFill>
                <a:effectLst/>
                <a:latin typeface="Arial" panose="020B0604020202020204" pitchFamily="34" charset="0"/>
              </a:rPr>
              <a:t> </a:t>
            </a:r>
            <a:r>
              <a:rPr lang="ko-KR" altLang="en-US" sz="1000"/>
              <a:t>예를 들어</a:t>
            </a:r>
            <a:r>
              <a:rPr lang="en-US" altLang="ko-KR" sz="1000"/>
              <a:t>, </a:t>
            </a:r>
            <a:r>
              <a:rPr lang="ko-KR" altLang="en-US" sz="1000" b="1"/>
              <a:t>수동으로 데이터를 병합할 때 발생할 수 있는 </a:t>
            </a:r>
            <a:r>
              <a:rPr lang="en-US" altLang="ko-KR" sz="1000" b="1"/>
              <a:t>JSON </a:t>
            </a:r>
            <a:r>
              <a:rPr lang="ko-KR" altLang="en-US" sz="1000" b="1"/>
              <a:t>형식 오류</a:t>
            </a:r>
            <a:r>
              <a:rPr lang="en-US" altLang="ko-KR" sz="1000" b="1"/>
              <a:t>, </a:t>
            </a:r>
            <a:r>
              <a:rPr lang="ko-KR" altLang="en-US" sz="1000" b="1"/>
              <a:t>필수 키 누락으로 인한 학습 실패</a:t>
            </a:r>
            <a:r>
              <a:rPr lang="en-US" altLang="ko-KR" sz="1000" b="1"/>
              <a:t>, </a:t>
            </a:r>
            <a:r>
              <a:rPr lang="ko-KR" altLang="en-US" sz="1000" b="1"/>
              <a:t>또는 데이터 순서 편향 문제를</a:t>
            </a:r>
            <a:r>
              <a:rPr lang="ko-KR" altLang="en-US" sz="1000"/>
              <a:t> 스크립트의 자동 검증 및 셔플</a:t>
            </a:r>
            <a:r>
              <a:rPr lang="en-US" altLang="ko-KR" sz="1000"/>
              <a:t>(Shuffle) </a:t>
            </a:r>
            <a:r>
              <a:rPr lang="ko-KR" altLang="en-US" sz="1000"/>
              <a:t>기능으로 사전에 차단했습니다</a:t>
            </a:r>
            <a:r>
              <a:rPr lang="en-US" altLang="ko-KR" sz="1000"/>
              <a:t>.</a:t>
            </a:r>
            <a:endParaRPr kumimoji="0" lang="ko-KR" altLang="ko-KR"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ko-KR" altLang="ko-KR" sz="10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1" i="0" u="none" strike="noStrike" cap="none" normalizeH="0" baseline="0">
                <a:ln>
                  <a:noFill/>
                </a:ln>
                <a:solidFill>
                  <a:schemeClr val="tx1"/>
                </a:solidFill>
                <a:effectLst/>
                <a:latin typeface="Arial" panose="020B0604020202020204" pitchFamily="34" charset="0"/>
              </a:rPr>
              <a:t>4. 향후 계획은 무엇인가요</a:t>
            </a:r>
            <a:r>
              <a:rPr lang="en-US" altLang="ko-KR" sz="1000" b="1">
                <a:latin typeface="Arial" panose="020B0604020202020204" pitchFamily="34" charset="0"/>
              </a:rPr>
              <a:t>?</a:t>
            </a:r>
            <a:br>
              <a:rPr lang="en-US" altLang="ko-KR" sz="1000" b="1">
                <a:latin typeface="Arial" panose="020B0604020202020204" pitchFamily="34" charset="0"/>
              </a:rPr>
            </a:br>
            <a:r>
              <a:rPr kumimoji="0" lang="ko-KR" altLang="ko-KR" sz="1000" b="0" i="0" u="none" strike="noStrike" cap="none" normalizeH="0" baseline="0">
                <a:ln>
                  <a:noFill/>
                </a:ln>
                <a:solidFill>
                  <a:schemeClr val="tx1"/>
                </a:solidFill>
                <a:effectLst/>
                <a:latin typeface="Arial" panose="020B0604020202020204" pitchFamily="34" charset="0"/>
              </a:rPr>
              <a:t>성공적인 </a:t>
            </a:r>
            <a:r>
              <a:rPr lang="en-US" altLang="ko-KR" sz="1000"/>
              <a:t>week6_lora_v02</a:t>
            </a:r>
            <a:r>
              <a:rPr kumimoji="0" lang="ko-KR" altLang="ko-KR" sz="1000" b="0" i="0" u="none" strike="noStrike" cap="none" normalizeH="0" baseline="0">
                <a:ln>
                  <a:noFill/>
                </a:ln>
                <a:solidFill>
                  <a:schemeClr val="tx1"/>
                </a:solidFill>
                <a:effectLst/>
              </a:rPr>
              <a:t> 어댑터를 기반 모델로 사용하여, 신규 Q&amp;A 데이터를 추가할 계획입니다. 이를 통해 모델의 전문 분야를 여러 도메인으로 확장해 나갈 것입니다.</a:t>
            </a:r>
            <a:endParaRPr kumimoji="0" lang="ko-KR" altLang="ko-KR" sz="1000" b="0" i="0" u="none" strike="noStrike" cap="none" normalizeH="0" baseline="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F3CB20F9-2E43-4E24-9F69-B7955040D94E}"/>
              </a:ext>
            </a:extLst>
          </p:cNvPr>
          <p:cNvSpPr txBox="1"/>
          <p:nvPr/>
        </p:nvSpPr>
        <p:spPr>
          <a:xfrm>
            <a:off x="349781" y="4013561"/>
            <a:ext cx="10192196" cy="400110"/>
          </a:xfrm>
          <a:prstGeom prst="rect">
            <a:avLst/>
          </a:prstGeom>
          <a:noFill/>
        </p:spPr>
        <p:txBody>
          <a:bodyPr wrap="square" rtlCol="0">
            <a:spAutoFit/>
          </a:bodyPr>
          <a:lstStyle/>
          <a:p>
            <a:r>
              <a:rPr lang="en-US" altLang="ko-KR" sz="2000" b="1">
                <a:solidFill>
                  <a:schemeClr val="accent1">
                    <a:lumMod val="75000"/>
                  </a:schemeClr>
                </a:solidFill>
              </a:rPr>
              <a:t>4. What is your plan for the next incremental update?</a:t>
            </a:r>
            <a:endParaRPr lang="en-US" altLang="ko-KR" sz="2000">
              <a:solidFill>
                <a:schemeClr val="accent1">
                  <a:lumMod val="75000"/>
                </a:schemeClr>
              </a:solidFill>
            </a:endParaRPr>
          </a:p>
        </p:txBody>
      </p:sp>
      <p:sp>
        <p:nvSpPr>
          <p:cNvPr id="11" name="TextBox 10">
            <a:extLst>
              <a:ext uri="{FF2B5EF4-FFF2-40B4-BE49-F238E27FC236}">
                <a16:creationId xmlns:a16="http://schemas.microsoft.com/office/drawing/2014/main" id="{E023CC1E-9B5B-42E0-87B8-ABC3B153E5B5}"/>
              </a:ext>
            </a:extLst>
          </p:cNvPr>
          <p:cNvSpPr txBox="1"/>
          <p:nvPr/>
        </p:nvSpPr>
        <p:spPr>
          <a:xfrm>
            <a:off x="729761" y="4445382"/>
            <a:ext cx="10990385" cy="783356"/>
          </a:xfrm>
          <a:prstGeom prst="rect">
            <a:avLst/>
          </a:prstGeom>
          <a:noFill/>
        </p:spPr>
        <p:txBody>
          <a:bodyPr wrap="square" rtlCol="0">
            <a:spAutoFit/>
          </a:bodyPr>
          <a:lstStyle/>
          <a:p>
            <a:pPr>
              <a:lnSpc>
                <a:spcPct val="150000"/>
              </a:lnSpc>
            </a:pPr>
            <a:r>
              <a:rPr lang="en-US" altLang="ko-KR" sz="1600"/>
              <a:t>Using the successful week6_lora_v02 adapter as a base model, the plan is to add new Q&amp;A data. This will allow us to expand the model's areas of expertise into multiple domains.</a:t>
            </a:r>
          </a:p>
        </p:txBody>
      </p:sp>
    </p:spTree>
    <p:extLst>
      <p:ext uri="{BB962C8B-B14F-4D97-AF65-F5344CB8AC3E}">
        <p14:creationId xmlns:p14="http://schemas.microsoft.com/office/powerpoint/2010/main" val="831745654"/>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1829</TotalTime>
  <Words>2231</Words>
  <Application>Microsoft Office PowerPoint</Application>
  <PresentationFormat>와이드스크린</PresentationFormat>
  <Paragraphs>171</Paragraphs>
  <Slides>16</Slides>
  <Notes>1</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16</vt:i4>
      </vt:variant>
    </vt:vector>
  </HeadingPairs>
  <TitlesOfParts>
    <vt:vector size="20" baseType="lpstr">
      <vt:lpstr>Arial Unicode MS</vt:lpstr>
      <vt:lpstr>맑은 고딕</vt:lpstr>
      <vt:lpstr>Arial</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KYOUNGEUN LEE</dc:creator>
  <cp:lastModifiedBy>최진</cp:lastModifiedBy>
  <cp:revision>71</cp:revision>
  <dcterms:created xsi:type="dcterms:W3CDTF">2025-10-28T06:47:31Z</dcterms:created>
  <dcterms:modified xsi:type="dcterms:W3CDTF">2025-11-11T06:25:07Z</dcterms:modified>
</cp:coreProperties>
</file>